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4b144dbad674220" /><Relationship Type="http://schemas.openxmlformats.org/officeDocument/2006/relationships/extended-properties" Target="/docProps/app.xml" Id="R4763d05e40354a4c" /><Relationship Type="http://schemas.openxmlformats.org/officeDocument/2006/relationships/officeDocument" Target="/ppt/presentation.xml" Id="Ra5b549ba902b4e56" /></Relationships>
</file>

<file path=ppt/presentation.xml><?xml version="1.0" encoding="utf-8"?>
<p:presentation xmlns:p="http://schemas.openxmlformats.org/presentationml/2006/main">
  <p:sldMasterIdLst>
    <p:sldMasterId xmlns:r="http://schemas.openxmlformats.org/officeDocument/2006/relationships" id="2147483648" r:id="R31fce3e7f27542cc"/>
  </p:sldMasterIdLst>
  <p:notesMasterIdLst>
    <p:notesMasterId xmlns:r="http://schemas.openxmlformats.org/officeDocument/2006/relationships" r:id="Rffe8085c519a4599"/>
  </p:notesMasterIdLst>
  <p:sldIdLst>
    <p:sldId xmlns:r="http://schemas.openxmlformats.org/officeDocument/2006/relationships" id="256" r:id="Rf8fb3ba49c6241d1"/>
    <p:sldId xmlns:r="http://schemas.openxmlformats.org/officeDocument/2006/relationships" id="257" r:id="Rf37ee3fd7c2a4094"/>
    <p:sldId xmlns:r="http://schemas.openxmlformats.org/officeDocument/2006/relationships" id="258" r:id="R7bd69f5a20b847c6"/>
    <p:sldId xmlns:r="http://schemas.openxmlformats.org/officeDocument/2006/relationships" id="259" r:id="Rd97090186d1243bd"/>
    <p:sldId xmlns:r="http://schemas.openxmlformats.org/officeDocument/2006/relationships" id="260" r:id="R44c2817c2b764b56"/>
    <p:sldId xmlns:r="http://schemas.openxmlformats.org/officeDocument/2006/relationships" id="261" r:id="R94a78279e8194844"/>
    <p:sldId xmlns:r="http://schemas.openxmlformats.org/officeDocument/2006/relationships" id="262" r:id="Rcc48f79d024641a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242a02f25f44c7" /><Relationship Type="http://schemas.openxmlformats.org/officeDocument/2006/relationships/slideMaster" Target="/ppt/slideMasters/slideMaster1.xml" Id="R31fce3e7f27542cc" /><Relationship Type="http://schemas.openxmlformats.org/officeDocument/2006/relationships/notesMaster" Target="/ppt/notesMasters/notesMaster1.xml" Id="Rffe8085c519a4599" /><Relationship Type="http://schemas.openxmlformats.org/officeDocument/2006/relationships/presProps" Target="/ppt/presProps.xml" Id="R5d5ebde70a91464a" /><Relationship Type="http://schemas.openxmlformats.org/officeDocument/2006/relationships/tableStyles" Target="/ppt/tableStyles.xml" Id="Red8373949a154822" /><Relationship Type="http://schemas.openxmlformats.org/officeDocument/2006/relationships/slide" Target="/ppt/slides/slide1.xml" Id="Rf8fb3ba49c6241d1" /><Relationship Type="http://schemas.openxmlformats.org/officeDocument/2006/relationships/slide" Target="/ppt/slides/slide2.xml" Id="Rf37ee3fd7c2a4094" /><Relationship Type="http://schemas.openxmlformats.org/officeDocument/2006/relationships/slide" Target="/ppt/slides/slide3.xml" Id="R7bd69f5a20b847c6" /><Relationship Type="http://schemas.openxmlformats.org/officeDocument/2006/relationships/slide" Target="/ppt/slides/slide4.xml" Id="Rd97090186d1243bd" /><Relationship Type="http://schemas.openxmlformats.org/officeDocument/2006/relationships/slide" Target="/ppt/slides/slide5.xml" Id="R44c2817c2b764b56" /><Relationship Type="http://schemas.openxmlformats.org/officeDocument/2006/relationships/slide" Target="/ppt/slides/slide6.xml" Id="R94a78279e8194844" /><Relationship Type="http://schemas.openxmlformats.org/officeDocument/2006/relationships/slide" Target="/ppt/slides/slide7.xml" Id="Rcc48f79d024641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1116e225ad49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8780704f6a42dd" /><Relationship Type="http://schemas.openxmlformats.org/officeDocument/2006/relationships/notesMaster" Target="/ppt/notesMasters/notesMaster1.xml" Id="R5086e03df6ac449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ab32b9073d47f7" /><Relationship Type="http://schemas.openxmlformats.org/officeDocument/2006/relationships/notesMaster" Target="/ppt/notesMasters/notesMaster1.xml" Id="Rd4009c6aa6ec4e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d2b31b6369495a" /><Relationship Type="http://schemas.openxmlformats.org/officeDocument/2006/relationships/notesMaster" Target="/ppt/notesMasters/notesMaster1.xml" Id="R9e1bbb7fbb0941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a030a3ecbc4f33" /><Relationship Type="http://schemas.openxmlformats.org/officeDocument/2006/relationships/notesMaster" Target="/ppt/notesMasters/notesMaster1.xml" Id="R9b48d60f372b44e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a68246bb7a4c51" /><Relationship Type="http://schemas.openxmlformats.org/officeDocument/2006/relationships/notesMaster" Target="/ppt/notesMasters/notesMaster1.xml" Id="R302c487d5f164f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321d020f8a4053" /><Relationship Type="http://schemas.openxmlformats.org/officeDocument/2006/relationships/notesMaster" Target="/ppt/notesMasters/notesMaster1.xml" Id="Re9bffe75e87749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442c801b5943fe" /><Relationship Type="http://schemas.openxmlformats.org/officeDocument/2006/relationships/notesMaster" Target="/ppt/notesMasters/notesMaster1.xml" Id="R960712235cf14a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AssemblyAI Voice Agent Hackathon submission deck. All caller information is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The problem and proposed benefit are hypotheses for nurse workflow research. Screenshot: artifacts/demo/source/caller-intake.png.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Screenshot: artifacts/demo/source/human-handoff.png. Mock intake fixtures and actual browser audio transport are separate layers. The capture uses synthetic microphone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Screenshot: artifacts/demo/source/nurse-evidence.png. Original fictional correction: I need to correct that: the headache started this morning, not yesterday. Supporting words establish provenance rather than medical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The AssemblyAI conversation uses configured Nebius Nemotron-3.5-Lightning. Independent extraction validates finalized caller evidence. The CallSession Durable Object controls consent and human takeover. D1 stores projections and R2 private exports.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Sources: docs/test-results.md and docs/evidence/local-live-voice-2026-09-29.json. Regression results: 168 unit, 177 Workers, 19 tooling, 29 browser, with one live-provider test skipped in that regression run. Separate 29 Sep local live test passed with recorded microphones: one finalized caller turn, one evidence-linked fact, an agent response after caller speech, non-silent human playback in both receiving worklets, and zero stale agent samples after takeover. That provider check predates the latest polish fixes. These are individual local observations, not reliability or latency guarantees. Provider API logical deletion is not proof of physical erasure or backup expiry. Public live activation still requires recording-control and device acceptance.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Proposed users and business model remain hypotheses. No customers, clinical partners, user interviews, measured time savings or clinical outcomes are claimed. Pending verification sources: docs/production-readiness.md, docs/phone-inbound.md and docs/safety-and-privacy.md.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d5fea4221649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eab1aed3ad444f" /><Relationship Type="http://schemas.openxmlformats.org/officeDocument/2006/relationships/slideLayout" Target="/ppt/slideLayouts/slideLayout1.xml" Id="R069b6831cb86433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9b6831cb86433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d399e30ab543e6" /><Relationship Type="http://schemas.openxmlformats.org/officeDocument/2006/relationships/notesSlide" Target="/ppt/notesSlides/notesSlide1.xml" Id="R04860128c3064f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52bb5cd0c01471b" /><Relationship Type="http://schemas.openxmlformats.org/officeDocument/2006/relationships/image" Target="/ppt/media/image.png" Id="R1cbe7c382c56491b" /><Relationship Type="http://schemas.openxmlformats.org/officeDocument/2006/relationships/notesSlide" Target="/ppt/notesSlides/notesSlide2.xml" Id="R70870b7db7784a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765f88b33984805" /><Relationship Type="http://schemas.openxmlformats.org/officeDocument/2006/relationships/image" Target="/ppt/media/image2.png" Id="R8bed5aab11f94d33" /><Relationship Type="http://schemas.openxmlformats.org/officeDocument/2006/relationships/notesSlide" Target="/ppt/notesSlides/notesSlide3.xml" Id="R57180c9d517245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9b358a9ef1045d6" /><Relationship Type="http://schemas.openxmlformats.org/officeDocument/2006/relationships/image" Target="/ppt/media/image3.png" Id="R8eeff3123d9641a4" /><Relationship Type="http://schemas.openxmlformats.org/officeDocument/2006/relationships/notesSlide" Target="/ppt/notesSlides/notesSlide4.xml" Id="R987dc6767d1341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811dc3083f14a35" /><Relationship Type="http://schemas.openxmlformats.org/officeDocument/2006/relationships/notesSlide" Target="/ppt/notesSlides/notesSlide5.xml" Id="Rbe077e3af3d047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8f6fc74c617424f" /><Relationship Type="http://schemas.openxmlformats.org/officeDocument/2006/relationships/notesSlide" Target="/ppt/notesSlides/notesSlide6.xml" Id="R325dcb37016543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6db10110e7645b9" /><Relationship Type="http://schemas.openxmlformats.org/officeDocument/2006/relationships/notesSlide" Target="/ppt/notesSlides/notesSlide7.xml" Id="R9d1ad3146e274351" /></Relationships>
</file>

<file path=ppt/slides/slide1.xml><?xml version="1.0" encoding="utf-8"?>
<p:sld xmlns:p="http://schemas.openxmlformats.org/presentationml/2006/main">
  <p:cSld>
    <p:bg>
      <p:bgPr>
        <a:solidFill xmlns:a="http://schemas.openxmlformats.org/drawingml/2006/main">
          <a:srgbClr val="1C393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D8D5D31-0C7D-4AC2-A0BC-CA4DF2EE907D}"/>
              </a:ext>
            </a:extLst>
          </p:cNvPr>
          <p:cNvSpPr>
            <a:spLocks xmlns:a="http://schemas.openxmlformats.org/drawingml/2006/main" noGrp="1"/>
          </p:cNvSpPr>
          <p:nvPr/>
        </p:nvSpPr>
        <p:spPr>
          <a:xfrm xmlns:a="http://schemas.openxmlformats.org/drawingml/2006/main">
            <a:off x="685800" y="1952625"/>
            <a:ext cx="108204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7200" b="1">
                <a:solidFill>
                  <a:srgbClr val="F4F3EB"/>
                </a:solidFill>
                <a:latin typeface="Helvetica Neue"/>
                <a:ea typeface="Helvetica Neue"/>
                <a:cs typeface="Helvetica Neue"/>
              </a:defRPr>
            </a:pPr>
            <a:r>
              <a:rPr sz="7200" b="1">
                <a:solidFill>
                  <a:srgbClr val="F4F3EB"/>
                </a:solidFill>
                <a:latin typeface="Helvetica Neue"/>
                <a:ea typeface="Helvetica Neue"/>
                <a:cs typeface="Helvetica Neue"/>
              </a:rPr>
              <a:t>NurseBridge</a:t>
            </a:r>
          </a:p>
        </p:txBody>
      </p:sp>
      <p:sp>
        <p:nvSpPr>
          <p:cNvPr id="2" name="">
            <a:extLst xmlns:a="http://schemas.openxmlformats.org/drawingml/2006/main">
              <a:ext uri="{FF2B5EF4-FFF2-40B4-BE49-F238E27FC236}">
                <a16:creationId xmlns:a16="http://schemas.microsoft.com/office/drawing/2014/main" id="{D3708586-BF90-42CB-840D-F5E3967D64A6}"/>
              </a:ext>
            </a:extLst>
          </p:cNvPr>
          <p:cNvSpPr>
            <a:spLocks xmlns:a="http://schemas.openxmlformats.org/drawingml/2006/main" noGrp="1"/>
          </p:cNvSpPr>
          <p:nvPr/>
        </p:nvSpPr>
        <p:spPr>
          <a:xfrm xmlns:a="http://schemas.openxmlformats.org/drawingml/2006/main">
            <a:off x="723900" y="3333750"/>
            <a:ext cx="10096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0">
                <a:solidFill>
                  <a:srgbClr val="D8EBDD"/>
                </a:solidFill>
                <a:latin typeface="Helvetica Neue"/>
                <a:ea typeface="Helvetica Neue"/>
                <a:cs typeface="Helvetica Neue"/>
              </a:defRPr>
            </a:pPr>
            <a:r>
              <a:rPr sz="2850" b="0">
                <a:solidFill>
                  <a:srgbClr val="D8EBDD"/>
                </a:solidFill>
                <a:latin typeface="Helvetica Neue"/>
                <a:ea typeface="Helvetica Neue"/>
                <a:cs typeface="Helvetica Neue"/>
              </a:rPr>
              <a:t>Voice intake with context for the nurse</a:t>
            </a:r>
          </a:p>
        </p:txBody>
      </p:sp>
      <p:sp>
        <p:nvSpPr>
          <p:cNvPr id="3" name="">
            <a:extLst xmlns:a="http://schemas.openxmlformats.org/drawingml/2006/main">
              <a:ext uri="{FF2B5EF4-FFF2-40B4-BE49-F238E27FC236}">
                <a16:creationId xmlns:a16="http://schemas.microsoft.com/office/drawing/2014/main" id="{2280DE20-04D9-4D27-8755-4DD6FBE77094}"/>
              </a:ext>
            </a:extLst>
          </p:cNvPr>
          <p:cNvSpPr>
            <a:spLocks xmlns:a="http://schemas.openxmlformats.org/drawingml/2006/main" noGrp="1"/>
          </p:cNvSpPr>
          <p:nvPr/>
        </p:nvSpPr>
        <p:spPr>
          <a:xfrm xmlns:a="http://schemas.openxmlformats.org/drawingml/2006/main">
            <a:off x="723900" y="5286375"/>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F4F3EB"/>
                </a:solidFill>
                <a:latin typeface="Helvetica Neue"/>
                <a:ea typeface="Helvetica Neue"/>
                <a:cs typeface="Helvetica Neue"/>
              </a:defRPr>
            </a:pPr>
            <a:r>
              <a:rPr sz="1800" b="0">
                <a:solidFill>
                  <a:srgbClr val="F4F3EB"/>
                </a:solidFill>
                <a:latin typeface="Helvetica Neue"/>
                <a:ea typeface="Helvetica Neue"/>
                <a:cs typeface="Helvetica Neue"/>
              </a:rPr>
              <a:t>AssemblyAI Voice Agent Hackathon</a:t>
            </a:r>
          </a:p>
        </p:txBody>
      </p:sp>
      <p:sp>
        <p:nvSpPr>
          <p:cNvPr id="4" name="">
            <a:extLst xmlns:a="http://schemas.openxmlformats.org/drawingml/2006/main">
              <a:ext uri="{FF2B5EF4-FFF2-40B4-BE49-F238E27FC236}">
                <a16:creationId xmlns:a16="http://schemas.microsoft.com/office/drawing/2014/main" id="{12E51EAB-7BF3-4DE6-89FF-7D83A28926B5}"/>
              </a:ext>
            </a:extLst>
          </p:cNvPr>
          <p:cNvSpPr>
            <a:spLocks xmlns:a="http://schemas.openxmlformats.org/drawingml/2006/main" noGrp="1"/>
          </p:cNvSpPr>
          <p:nvPr/>
        </p:nvSpPr>
        <p:spPr>
          <a:xfrm xmlns:a="http://schemas.openxmlformats.org/drawingml/2006/main">
            <a:off x="723900" y="5753100"/>
            <a:ext cx="1009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0">
                <a:solidFill>
                  <a:srgbClr val="D8EBDD"/>
                </a:solidFill>
                <a:latin typeface="Helvetica Neue"/>
                <a:ea typeface="Helvetica Neue"/>
                <a:cs typeface="Helvetica Neue"/>
              </a:defRPr>
            </a:pPr>
            <a:r>
              <a:rPr sz="1500" b="0">
                <a:solidFill>
                  <a:srgbClr val="D8EBDD"/>
                </a:solidFill>
                <a:latin typeface="Helvetica Neue"/>
                <a:ea typeface="Helvetica Neue"/>
                <a:cs typeface="Helvetica Neue"/>
              </a:rPr>
              <a:t>Simulation only. Fictional information. Not for medical care.</a:t>
            </a:r>
          </a:p>
        </p:txBody>
      </p:sp>
    </p:spTree>
    <p:extLst>
      <p:ext uri="{BB962C8B-B14F-4D97-AF65-F5344CB8AC3E}">
        <p14:creationId xmlns:p14="http://schemas.microsoft.com/office/powerpoint/2010/main" val="887779327"/>
      </p:ext>
    </p:extLst>
  </p:cSld>
</p:sld>
</file>

<file path=ppt/slides/slide2.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A09918-5687-43F8-A0FD-C72815D738D2}"/>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The intake handoff</a:t>
            </a:r>
          </a:p>
        </p:txBody>
      </p:sp>
      <p:sp>
        <p:nvSpPr>
          <p:cNvPr id="2" name="">
            <a:extLst xmlns:a="http://schemas.openxmlformats.org/drawingml/2006/main">
              <a:ext uri="{FF2B5EF4-FFF2-40B4-BE49-F238E27FC236}">
                <a16:creationId xmlns:a16="http://schemas.microsoft.com/office/drawing/2014/main" id="{E937FF39-D4C8-4B09-9111-C772DE56D36B}"/>
              </a:ext>
            </a:extLst>
          </p:cNvPr>
          <p:cNvSpPr>
            <a:spLocks xmlns:a="http://schemas.openxmlformats.org/drawingml/2006/main" noGrp="1"/>
          </p:cNvSpPr>
          <p:nvPr/>
        </p:nvSpPr>
        <p:spPr>
          <a:xfrm xmlns:a="http://schemas.openxmlformats.org/drawingml/2006/main">
            <a:off x="685800" y="1676400"/>
            <a:ext cx="5810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625" b="1">
                <a:solidFill>
                  <a:srgbClr val="1C3939"/>
                </a:solidFill>
                <a:latin typeface="Helvetica Neue"/>
                <a:ea typeface="Helvetica Neue"/>
                <a:cs typeface="Helvetica Neue"/>
              </a:defRPr>
            </a:pPr>
            <a:r>
              <a:rPr sz="2625" b="1">
                <a:solidFill>
                  <a:srgbClr val="1C3939"/>
                </a:solidFill>
                <a:latin typeface="Helvetica Neue"/>
                <a:ea typeface="Helvetica Neue"/>
                <a:cs typeface="Helvetica Neue"/>
              </a:rPr>
              <a:t>A caller has a story.</a:t>
            </a:r>
          </a:p>
          <a:p xmlns:a="http://schemas.openxmlformats.org/drawingml/2006/main">
            <a:pPr>
              <a:buNone/>
              <a:defRPr sz="2625" b="1">
                <a:solidFill>
                  <a:srgbClr val="1C3939"/>
                </a:solidFill>
                <a:latin typeface="Helvetica Neue"/>
                <a:ea typeface="Helvetica Neue"/>
                <a:cs typeface="Helvetica Neue"/>
              </a:defRPr>
            </a:pPr>
            <a:r>
              <a:rPr sz="2625" b="1">
                <a:solidFill>
                  <a:srgbClr val="1C3939"/>
                </a:solidFill>
                <a:latin typeface="Helvetica Neue"/>
                <a:ea typeface="Helvetica Neue"/>
                <a:cs typeface="Helvetica Neue"/>
              </a:rPr>
              <a:t>The nurse needs usable context.</a:t>
            </a:r>
          </a:p>
        </p:txBody>
      </p:sp>
      <p:sp>
        <p:nvSpPr>
          <p:cNvPr id="3" name="">
            <a:extLst xmlns:a="http://schemas.openxmlformats.org/drawingml/2006/main">
              <a:ext uri="{FF2B5EF4-FFF2-40B4-BE49-F238E27FC236}">
                <a16:creationId xmlns:a16="http://schemas.microsoft.com/office/drawing/2014/main" id="{FE40202B-4E6E-4E38-B9CE-4DDDBA8FF4EE}"/>
              </a:ext>
            </a:extLst>
          </p:cNvPr>
          <p:cNvSpPr>
            <a:spLocks xmlns:a="http://schemas.openxmlformats.org/drawingml/2006/main" noGrp="1"/>
          </p:cNvSpPr>
          <p:nvPr/>
        </p:nvSpPr>
        <p:spPr>
          <a:xfrm xmlns:a="http://schemas.openxmlformats.org/drawingml/2006/main">
            <a:off x="685800" y="3067050"/>
            <a:ext cx="5429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C3939"/>
                </a:solidFill>
                <a:latin typeface="Helvetica Neue"/>
                <a:ea typeface="Helvetica Neue"/>
                <a:cs typeface="Helvetica Neue"/>
              </a:defRPr>
            </a:pPr>
            <a:r>
              <a:rPr sz="2100" b="0">
                <a:solidFill>
                  <a:srgbClr val="1C3939"/>
                </a:solidFill>
                <a:latin typeface="Helvetica Neue"/>
                <a:ea typeface="Helvetica Neue"/>
                <a:cs typeface="Helvetica Neue"/>
              </a:rPr>
              <a:t>Details can change during a conversation. A useful intake draft needs to retain corrections and uncertainty.</a:t>
            </a:r>
          </a:p>
        </p:txBody>
      </p:sp>
      <p:sp>
        <p:nvSpPr>
          <p:cNvPr id="4" name="">
            <a:extLst xmlns:a="http://schemas.openxmlformats.org/drawingml/2006/main">
              <a:ext uri="{FF2B5EF4-FFF2-40B4-BE49-F238E27FC236}">
                <a16:creationId xmlns:a16="http://schemas.microsoft.com/office/drawing/2014/main" id="{1AB636A2-3830-46ED-84E1-F7203B830545}"/>
              </a:ext>
            </a:extLst>
          </p:cNvPr>
          <p:cNvSpPr>
            <a:spLocks xmlns:a="http://schemas.openxmlformats.org/drawingml/2006/main" noGrp="1"/>
          </p:cNvSpPr>
          <p:nvPr/>
        </p:nvSpPr>
        <p:spPr>
          <a:xfrm xmlns:a="http://schemas.openxmlformats.org/drawingml/2006/main">
            <a:off x="685800" y="4619625"/>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27873"/>
                </a:solidFill>
                <a:latin typeface="Helvetica Neue"/>
                <a:ea typeface="Helvetica Neue"/>
                <a:cs typeface="Helvetica Neue"/>
              </a:defRPr>
            </a:pPr>
            <a:r>
              <a:rPr sz="2100" b="0">
                <a:solidFill>
                  <a:srgbClr val="127873"/>
                </a:solidFill>
                <a:latin typeface="Helvetica Neue"/>
                <a:ea typeface="Helvetica Neue"/>
                <a:cs typeface="Helvetica Neue"/>
              </a:rPr>
              <a:t>NurseBridge explores collecting that context while the caller waits for a nurse.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cbe7c382c56491b"/>
          <a:srcRect xmlns:a="http://schemas.openxmlformats.org/drawingml/2006/main" l="21736" t="18687" r="36528" b="32179"/>
          <a:stretch xmlns:a="http://schemas.openxmlformats.org/drawingml/2006/main">
            <a:fillRect l="0" t="0" r="0" b="0"/>
          </a:stretch>
        </p:blipFill>
        <p:spPr>
          <a:xfrm xmlns:a="http://schemas.openxmlformats.org/drawingml/2006/main">
            <a:off x="6953250" y="1504950"/>
            <a:ext cx="3857625" cy="4371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D94B34C-2127-4C71-9729-3DBFEAF091EC}"/>
              </a:ext>
            </a:extLst>
          </p:cNvPr>
          <p:cNvSpPr>
            <a:spLocks xmlns:a="http://schemas.openxmlformats.org/drawingml/2006/main" noGrp="1"/>
          </p:cNvSpPr>
          <p:nvPr/>
        </p:nvSpPr>
        <p:spPr>
          <a:xfrm xmlns:a="http://schemas.openxmlformats.org/drawingml/2006/main">
            <a:off x="6962775" y="6010275"/>
            <a:ext cx="3848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Mock replay interface</a:t>
            </a:r>
          </a:p>
        </p:txBody>
      </p:sp>
      <p:sp>
        <p:nvSpPr>
          <p:cNvPr id="7" name="">
            <a:extLst xmlns:a="http://schemas.openxmlformats.org/drawingml/2006/main">
              <a:ext uri="{FF2B5EF4-FFF2-40B4-BE49-F238E27FC236}">
                <a16:creationId xmlns:a16="http://schemas.microsoft.com/office/drawing/2014/main" id="{778F2908-C792-433A-B5AF-67392FF71642}"/>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02</a:t>
            </a:r>
          </a:p>
        </p:txBody>
      </p:sp>
    </p:spTree>
    <p:extLst>
      <p:ext uri="{BB962C8B-B14F-4D97-AF65-F5344CB8AC3E}">
        <p14:creationId xmlns:p14="http://schemas.microsoft.com/office/powerpoint/2010/main" val="868009982"/>
      </p:ext>
    </p:extLst>
  </p:cSld>
</p:sld>
</file>

<file path=ppt/slides/slide3.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687BCBC-019A-4257-8AC9-E41B67976C18}"/>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Caller to nurse</a:t>
            </a:r>
          </a:p>
        </p:txBody>
      </p:sp>
      <p:sp>
        <p:nvSpPr>
          <p:cNvPr id="2" name="">
            <a:extLst xmlns:a="http://schemas.openxmlformats.org/drawingml/2006/main">
              <a:ext uri="{FF2B5EF4-FFF2-40B4-BE49-F238E27FC236}">
                <a16:creationId xmlns:a16="http://schemas.microsoft.com/office/drawing/2014/main" id="{38795E58-98AF-4438-AEEC-5CAF9371B29C}"/>
              </a:ext>
            </a:extLst>
          </p:cNvPr>
          <p:cNvSpPr>
            <a:spLocks xmlns:a="http://schemas.openxmlformats.org/drawingml/2006/main" noGrp="1"/>
          </p:cNvSpPr>
          <p:nvPr/>
        </p:nvSpPr>
        <p:spPr>
          <a:xfrm xmlns:a="http://schemas.openxmlformats.org/drawingml/2006/main">
            <a:off x="685800" y="16573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1</a:t>
            </a:r>
          </a:p>
        </p:txBody>
      </p:sp>
      <p:sp>
        <p:nvSpPr>
          <p:cNvPr id="3" name="">
            <a:extLst xmlns:a="http://schemas.openxmlformats.org/drawingml/2006/main">
              <a:ext uri="{FF2B5EF4-FFF2-40B4-BE49-F238E27FC236}">
                <a16:creationId xmlns:a16="http://schemas.microsoft.com/office/drawing/2014/main" id="{4378F447-7F0D-487C-969D-5D3C2597774E}"/>
              </a:ext>
            </a:extLst>
          </p:cNvPr>
          <p:cNvSpPr>
            <a:spLocks xmlns:a="http://schemas.openxmlformats.org/drawingml/2006/main" noGrp="1"/>
          </p:cNvSpPr>
          <p:nvPr/>
        </p:nvSpPr>
        <p:spPr>
          <a:xfrm xmlns:a="http://schemas.openxmlformats.org/drawingml/2006/main">
            <a:off x="1228725" y="16573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Join the queue</a:t>
            </a:r>
          </a:p>
        </p:txBody>
      </p:sp>
      <p:sp>
        <p:nvSpPr>
          <p:cNvPr id="4" name="">
            <a:extLst xmlns:a="http://schemas.openxmlformats.org/drawingml/2006/main">
              <a:ext uri="{FF2B5EF4-FFF2-40B4-BE49-F238E27FC236}">
                <a16:creationId xmlns:a16="http://schemas.microsoft.com/office/drawing/2014/main" id="{71A7F502-0413-4904-9972-74C7784A77E8}"/>
              </a:ext>
            </a:extLst>
          </p:cNvPr>
          <p:cNvSpPr>
            <a:spLocks xmlns:a="http://schemas.openxmlformats.org/drawingml/2006/main" noGrp="1"/>
          </p:cNvSpPr>
          <p:nvPr/>
        </p:nvSpPr>
        <p:spPr>
          <a:xfrm xmlns:a="http://schemas.openxmlformats.org/drawingml/2006/main">
            <a:off x="1228725" y="20764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Human access remains available.</a:t>
            </a:r>
          </a:p>
        </p:txBody>
      </p:sp>
      <p:sp>
        <p:nvSpPr>
          <p:cNvPr id="5" name="">
            <a:extLst xmlns:a="http://schemas.openxmlformats.org/drawingml/2006/main">
              <a:ext uri="{FF2B5EF4-FFF2-40B4-BE49-F238E27FC236}">
                <a16:creationId xmlns:a16="http://schemas.microsoft.com/office/drawing/2014/main" id="{88C73010-7667-43B0-9EE5-89975CA975E2}"/>
              </a:ext>
            </a:extLst>
          </p:cNvPr>
          <p:cNvSpPr>
            <a:spLocks xmlns:a="http://schemas.openxmlformats.org/drawingml/2006/main" noGrp="1"/>
          </p:cNvSpPr>
          <p:nvPr/>
        </p:nvSpPr>
        <p:spPr>
          <a:xfrm xmlns:a="http://schemas.openxmlformats.org/drawingml/2006/main">
            <a:off x="685800" y="26479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2</a:t>
            </a:r>
          </a:p>
        </p:txBody>
      </p:sp>
      <p:sp>
        <p:nvSpPr>
          <p:cNvPr id="6" name="">
            <a:extLst xmlns:a="http://schemas.openxmlformats.org/drawingml/2006/main">
              <a:ext uri="{FF2B5EF4-FFF2-40B4-BE49-F238E27FC236}">
                <a16:creationId xmlns:a16="http://schemas.microsoft.com/office/drawing/2014/main" id="{34984409-2F19-4C26-8F84-8EB640BCFD71}"/>
              </a:ext>
            </a:extLst>
          </p:cNvPr>
          <p:cNvSpPr>
            <a:spLocks xmlns:a="http://schemas.openxmlformats.org/drawingml/2006/main" noGrp="1"/>
          </p:cNvSpPr>
          <p:nvPr/>
        </p:nvSpPr>
        <p:spPr>
          <a:xfrm xmlns:a="http://schemas.openxmlformats.org/drawingml/2006/main">
            <a:off x="1228725" y="26479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Share a fictional story</a:t>
            </a:r>
          </a:p>
        </p:txBody>
      </p:sp>
      <p:sp>
        <p:nvSpPr>
          <p:cNvPr id="7" name="">
            <a:extLst xmlns:a="http://schemas.openxmlformats.org/drawingml/2006/main">
              <a:ext uri="{FF2B5EF4-FFF2-40B4-BE49-F238E27FC236}">
                <a16:creationId xmlns:a16="http://schemas.microsoft.com/office/drawing/2014/main" id="{A6F474E1-A506-46E6-B8DD-CA282A77FE35}"/>
              </a:ext>
            </a:extLst>
          </p:cNvPr>
          <p:cNvSpPr>
            <a:spLocks xmlns:a="http://schemas.openxmlformats.org/drawingml/2006/main" noGrp="1"/>
          </p:cNvSpPr>
          <p:nvPr/>
        </p:nvSpPr>
        <p:spPr>
          <a:xfrm xmlns:a="http://schemas.openxmlformats.org/drawingml/2006/main">
            <a:off x="1228725" y="30670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The assistant collects intake details.</a:t>
            </a:r>
          </a:p>
        </p:txBody>
      </p:sp>
      <p:sp>
        <p:nvSpPr>
          <p:cNvPr id="8" name="">
            <a:extLst xmlns:a="http://schemas.openxmlformats.org/drawingml/2006/main">
              <a:ext uri="{FF2B5EF4-FFF2-40B4-BE49-F238E27FC236}">
                <a16:creationId xmlns:a16="http://schemas.microsoft.com/office/drawing/2014/main" id="{BC2EC123-1EAF-4FB6-8F43-468742D01B1B}"/>
              </a:ext>
            </a:extLst>
          </p:cNvPr>
          <p:cNvSpPr>
            <a:spLocks xmlns:a="http://schemas.openxmlformats.org/drawingml/2006/main" noGrp="1"/>
          </p:cNvSpPr>
          <p:nvPr/>
        </p:nvSpPr>
        <p:spPr>
          <a:xfrm xmlns:a="http://schemas.openxmlformats.org/drawingml/2006/main">
            <a:off x="685800" y="36385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3</a:t>
            </a:r>
          </a:p>
        </p:txBody>
      </p:sp>
      <p:sp>
        <p:nvSpPr>
          <p:cNvPr id="9" name="">
            <a:extLst xmlns:a="http://schemas.openxmlformats.org/drawingml/2006/main">
              <a:ext uri="{FF2B5EF4-FFF2-40B4-BE49-F238E27FC236}">
                <a16:creationId xmlns:a16="http://schemas.microsoft.com/office/drawing/2014/main" id="{0DFE5682-CE19-4175-BD5D-875370DB5474}"/>
              </a:ext>
            </a:extLst>
          </p:cNvPr>
          <p:cNvSpPr>
            <a:spLocks xmlns:a="http://schemas.openxmlformats.org/drawingml/2006/main" noGrp="1"/>
          </p:cNvSpPr>
          <p:nvPr/>
        </p:nvSpPr>
        <p:spPr>
          <a:xfrm xmlns:a="http://schemas.openxmlformats.org/drawingml/2006/main">
            <a:off x="1228725" y="36385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Review the draft</a:t>
            </a:r>
          </a:p>
        </p:txBody>
      </p:sp>
      <p:sp>
        <p:nvSpPr>
          <p:cNvPr id="10" name="">
            <a:extLst xmlns:a="http://schemas.openxmlformats.org/drawingml/2006/main">
              <a:ext uri="{FF2B5EF4-FFF2-40B4-BE49-F238E27FC236}">
                <a16:creationId xmlns:a16="http://schemas.microsoft.com/office/drawing/2014/main" id="{2719E584-2790-459C-ADF6-2EDC56EA2F11}"/>
              </a:ext>
            </a:extLst>
          </p:cNvPr>
          <p:cNvSpPr>
            <a:spLocks xmlns:a="http://schemas.openxmlformats.org/drawingml/2006/main" noGrp="1"/>
          </p:cNvSpPr>
          <p:nvPr/>
        </p:nvSpPr>
        <p:spPr>
          <a:xfrm xmlns:a="http://schemas.openxmlformats.org/drawingml/2006/main">
            <a:off x="1228725" y="40576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A nurse can inspect source words.</a:t>
            </a:r>
          </a:p>
        </p:txBody>
      </p:sp>
      <p:sp>
        <p:nvSpPr>
          <p:cNvPr id="11" name="">
            <a:extLst xmlns:a="http://schemas.openxmlformats.org/drawingml/2006/main">
              <a:ext uri="{FF2B5EF4-FFF2-40B4-BE49-F238E27FC236}">
                <a16:creationId xmlns:a16="http://schemas.microsoft.com/office/drawing/2014/main" id="{D7308C6C-44FE-42D1-9FD7-9FE67F7E8F42}"/>
              </a:ext>
            </a:extLst>
          </p:cNvPr>
          <p:cNvSpPr>
            <a:spLocks xmlns:a="http://schemas.openxmlformats.org/drawingml/2006/main" noGrp="1"/>
          </p:cNvSpPr>
          <p:nvPr/>
        </p:nvSpPr>
        <p:spPr>
          <a:xfrm xmlns:a="http://schemas.openxmlformats.org/drawingml/2006/main">
            <a:off x="685800" y="46291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4</a:t>
            </a:r>
          </a:p>
        </p:txBody>
      </p:sp>
      <p:sp>
        <p:nvSpPr>
          <p:cNvPr id="12" name="">
            <a:extLst xmlns:a="http://schemas.openxmlformats.org/drawingml/2006/main">
              <a:ext uri="{FF2B5EF4-FFF2-40B4-BE49-F238E27FC236}">
                <a16:creationId xmlns:a16="http://schemas.microsoft.com/office/drawing/2014/main" id="{4B9E59C2-A14C-4535-B8E8-0D01DB7A9D74}"/>
              </a:ext>
            </a:extLst>
          </p:cNvPr>
          <p:cNvSpPr>
            <a:spLocks xmlns:a="http://schemas.openxmlformats.org/drawingml/2006/main" noGrp="1"/>
          </p:cNvSpPr>
          <p:nvPr/>
        </p:nvSpPr>
        <p:spPr>
          <a:xfrm xmlns:a="http://schemas.openxmlformats.org/drawingml/2006/main">
            <a:off x="1228725" y="46291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Take over the call</a:t>
            </a:r>
          </a:p>
        </p:txBody>
      </p:sp>
      <p:sp>
        <p:nvSpPr>
          <p:cNvPr id="13" name="">
            <a:extLst xmlns:a="http://schemas.openxmlformats.org/drawingml/2006/main">
              <a:ext uri="{FF2B5EF4-FFF2-40B4-BE49-F238E27FC236}">
                <a16:creationId xmlns:a16="http://schemas.microsoft.com/office/drawing/2014/main" id="{BC6DAE5E-8F26-47BC-B088-2AC5823DF7E6}"/>
              </a:ext>
            </a:extLst>
          </p:cNvPr>
          <p:cNvSpPr>
            <a:spLocks xmlns:a="http://schemas.openxmlformats.org/drawingml/2006/main" noGrp="1"/>
          </p:cNvSpPr>
          <p:nvPr/>
        </p:nvSpPr>
        <p:spPr>
          <a:xfrm xmlns:a="http://schemas.openxmlformats.org/drawingml/2006/main">
            <a:off x="1228725" y="50482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Automated forwarding stops.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bed5aab11f94d33"/>
          <a:srcRect xmlns:a="http://schemas.openxmlformats.org/drawingml/2006/main" l="25972" t="22783" r="25278" b="55953"/>
          <a:stretch xmlns:a="http://schemas.openxmlformats.org/drawingml/2006/main">
            <a:fillRect l="0" t="0" r="0" b="0"/>
          </a:stretch>
        </p:blipFill>
        <p:spPr>
          <a:xfrm xmlns:a="http://schemas.openxmlformats.org/drawingml/2006/main">
            <a:off x="5314950" y="1657350"/>
            <a:ext cx="6191250" cy="382905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6084D731-2944-4015-8DEF-1F6A5DD62521}"/>
              </a:ext>
            </a:extLst>
          </p:cNvPr>
          <p:cNvSpPr>
            <a:spLocks xmlns:a="http://schemas.openxmlformats.org/drawingml/2006/main" noGrp="1"/>
          </p:cNvSpPr>
          <p:nvPr/>
        </p:nvSpPr>
        <p:spPr>
          <a:xfrm xmlns:a="http://schemas.openxmlformats.org/drawingml/2006/main">
            <a:off x="5314950" y="5743575"/>
            <a:ext cx="619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0">
                <a:solidFill>
                  <a:srgbClr val="526967"/>
                </a:solidFill>
                <a:latin typeface="Helvetica Neue"/>
                <a:ea typeface="Helvetica Neue"/>
                <a:cs typeface="Helvetica Neue"/>
              </a:defRPr>
            </a:pPr>
            <a:r>
              <a:rPr sz="1500" b="0">
                <a:solidFill>
                  <a:srgbClr val="526967"/>
                </a:solidFill>
                <a:latin typeface="Helvetica Neue"/>
                <a:ea typeface="Helvetica Neue"/>
                <a:cs typeface="Helvetica Neue"/>
              </a:rPr>
              <a:t>Fictional mock replay with browser human audio</a:t>
            </a:r>
          </a:p>
        </p:txBody>
      </p:sp>
      <p:sp>
        <p:nvSpPr>
          <p:cNvPr id="16" name="">
            <a:extLst xmlns:a="http://schemas.openxmlformats.org/drawingml/2006/main">
              <a:ext uri="{FF2B5EF4-FFF2-40B4-BE49-F238E27FC236}">
                <a16:creationId xmlns:a16="http://schemas.microsoft.com/office/drawing/2014/main" id="{06B00123-76F5-4111-B4B8-99CAD986FBBC}"/>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03</a:t>
            </a:r>
          </a:p>
        </p:txBody>
      </p:sp>
    </p:spTree>
    <p:extLst>
      <p:ext uri="{BB962C8B-B14F-4D97-AF65-F5344CB8AC3E}">
        <p14:creationId xmlns:p14="http://schemas.microsoft.com/office/powerpoint/2010/main" val="1524910522"/>
      </p:ext>
    </p:extLst>
  </p:cSld>
</p:sld>
</file>

<file path=ppt/slides/slide4.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3D27FE-4FDB-4706-ACFC-567FD62C1466}"/>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Corrections retain source words</a:t>
            </a:r>
          </a:p>
        </p:txBody>
      </p:sp>
      <p:sp>
        <p:nvSpPr>
          <p:cNvPr id="2" name="">
            <a:extLst xmlns:a="http://schemas.openxmlformats.org/drawingml/2006/main">
              <a:ext uri="{FF2B5EF4-FFF2-40B4-BE49-F238E27FC236}">
                <a16:creationId xmlns:a16="http://schemas.microsoft.com/office/drawing/2014/main" id="{4AFAE4FD-6B86-402C-A89F-F42BD941658E}"/>
              </a:ext>
            </a:extLst>
          </p:cNvPr>
          <p:cNvSpPr>
            <a:spLocks xmlns:a="http://schemas.openxmlformats.org/drawingml/2006/main" noGrp="1"/>
          </p:cNvSpPr>
          <p:nvPr/>
        </p:nvSpPr>
        <p:spPr>
          <a:xfrm xmlns:a="http://schemas.openxmlformats.org/drawingml/2006/main">
            <a:off x="685800" y="1695450"/>
            <a:ext cx="348615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625" b="1">
                <a:solidFill>
                  <a:srgbClr val="127873"/>
                </a:solidFill>
                <a:latin typeface="Helvetica Neue"/>
                <a:ea typeface="Helvetica Neue"/>
                <a:cs typeface="Helvetica Neue"/>
              </a:defRPr>
            </a:pPr>
            <a:r>
              <a:rPr sz="2625" b="1">
                <a:solidFill>
                  <a:srgbClr val="127873"/>
                </a:solidFill>
                <a:latin typeface="Helvetica Neue"/>
                <a:ea typeface="Helvetica Neue"/>
                <a:cs typeface="Helvetica Neue"/>
              </a:rPr>
              <a:t>“The headache started this morning, not yesterday.”</a:t>
            </a:r>
          </a:p>
        </p:txBody>
      </p:sp>
      <p:sp>
        <p:nvSpPr>
          <p:cNvPr id="3" name="">
            <a:extLst xmlns:a="http://schemas.openxmlformats.org/drawingml/2006/main">
              <a:ext uri="{FF2B5EF4-FFF2-40B4-BE49-F238E27FC236}">
                <a16:creationId xmlns:a16="http://schemas.microsoft.com/office/drawing/2014/main" id="{1EE931C8-5043-42A6-8B5D-6F85A558A558}"/>
              </a:ext>
            </a:extLst>
          </p:cNvPr>
          <p:cNvSpPr>
            <a:spLocks xmlns:a="http://schemas.openxmlformats.org/drawingml/2006/main" noGrp="1"/>
          </p:cNvSpPr>
          <p:nvPr/>
        </p:nvSpPr>
        <p:spPr>
          <a:xfrm xmlns:a="http://schemas.openxmlformats.org/drawingml/2006/main">
            <a:off x="685800" y="3629025"/>
            <a:ext cx="341947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1C3939"/>
                </a:solidFill>
                <a:latin typeface="Helvetica Neue"/>
                <a:ea typeface="Helvetica Neue"/>
                <a:cs typeface="Helvetica Neue"/>
              </a:defRPr>
            </a:pPr>
            <a:r>
              <a:rPr sz="1950" b="0">
                <a:solidFill>
                  <a:srgbClr val="1C3939"/>
                </a:solidFill>
                <a:latin typeface="Helvetica Neue"/>
                <a:ea typeface="Helvetica Neue"/>
                <a:cs typeface="Helvetica Neue"/>
              </a:rPr>
              <a:t>The current draft changes. The original words and correction history remain available for review.</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eeff3123d9641a4"/>
          <a:srcRect xmlns:a="http://schemas.openxmlformats.org/drawingml/2006/main" l="26111" t="17209" r="2083" b="50800"/>
          <a:stretch xmlns:a="http://schemas.openxmlformats.org/drawingml/2006/main">
            <a:fillRect l="0" t="0" r="0" b="0"/>
          </a:stretch>
        </p:blipFill>
        <p:spPr>
          <a:xfrm xmlns:a="http://schemas.openxmlformats.org/drawingml/2006/main">
            <a:off x="4476750" y="1666875"/>
            <a:ext cx="70294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0422A9F-B566-4697-8D4B-9B13EEFC5C37}"/>
              </a:ext>
            </a:extLst>
          </p:cNvPr>
          <p:cNvSpPr>
            <a:spLocks xmlns:a="http://schemas.openxmlformats.org/drawingml/2006/main" noGrp="1"/>
          </p:cNvSpPr>
          <p:nvPr/>
        </p:nvSpPr>
        <p:spPr>
          <a:xfrm xmlns:a="http://schemas.openxmlformats.org/drawingml/2006/main">
            <a:off x="685800" y="5953125"/>
            <a:ext cx="10096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526967"/>
                </a:solidFill>
                <a:latin typeface="Helvetica Neue"/>
                <a:ea typeface="Helvetica Neue"/>
                <a:cs typeface="Helvetica Neue"/>
              </a:defRPr>
            </a:pPr>
            <a:r>
              <a:rPr sz="1725" b="0">
                <a:solidFill>
                  <a:srgbClr val="526967"/>
                </a:solidFill>
                <a:latin typeface="Helvetica Neue"/>
                <a:ea typeface="Helvetica Neue"/>
                <a:cs typeface="Helvetica Neue"/>
              </a:rPr>
              <a:t>Unmeasured and uncertain details remain explicit. The draft awaits nurse review.</a:t>
            </a:r>
          </a:p>
        </p:txBody>
      </p:sp>
      <p:sp>
        <p:nvSpPr>
          <p:cNvPr id="6" name="">
            <a:extLst xmlns:a="http://schemas.openxmlformats.org/drawingml/2006/main">
              <a:ext uri="{FF2B5EF4-FFF2-40B4-BE49-F238E27FC236}">
                <a16:creationId xmlns:a16="http://schemas.microsoft.com/office/drawing/2014/main" id="{6987E5AB-7B4E-426C-96C4-3F93A04B261D}"/>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04</a:t>
            </a:r>
          </a:p>
        </p:txBody>
      </p:sp>
    </p:spTree>
    <p:extLst>
      <p:ext uri="{BB962C8B-B14F-4D97-AF65-F5344CB8AC3E}">
        <p14:creationId xmlns:p14="http://schemas.microsoft.com/office/powerpoint/2010/main" val="1838762504"/>
      </p:ext>
    </p:extLst>
  </p:cSld>
</p:sld>
</file>

<file path=ppt/slides/slide5.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F4C15A7-1691-4A13-BDA3-7E557E21FBAE}"/>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Technology and control</a:t>
            </a:r>
          </a:p>
        </p:txBody>
      </p:sp>
      <p:sp>
        <p:nvSpPr>
          <p:cNvPr id="2" name="">
            <a:extLst xmlns:a="http://schemas.openxmlformats.org/drawingml/2006/main">
              <a:ext uri="{FF2B5EF4-FFF2-40B4-BE49-F238E27FC236}">
                <a16:creationId xmlns:a16="http://schemas.microsoft.com/office/drawing/2014/main" id="{A13E65ED-8A9C-499B-B7C7-6293968B8038}"/>
              </a:ext>
            </a:extLst>
          </p:cNvPr>
          <p:cNvSpPr>
            <a:spLocks xmlns:a="http://schemas.openxmlformats.org/drawingml/2006/main" noGrp="1"/>
          </p:cNvSpPr>
          <p:nvPr/>
        </p:nvSpPr>
        <p:spPr>
          <a:xfrm xmlns:a="http://schemas.openxmlformats.org/drawingml/2006/main">
            <a:off x="685800" y="1543050"/>
            <a:ext cx="4810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Conversation</a:t>
            </a:r>
          </a:p>
        </p:txBody>
      </p:sp>
      <p:sp>
        <p:nvSpPr>
          <p:cNvPr id="3" name="">
            <a:extLst xmlns:a="http://schemas.openxmlformats.org/drawingml/2006/main">
              <a:ext uri="{FF2B5EF4-FFF2-40B4-BE49-F238E27FC236}">
                <a16:creationId xmlns:a16="http://schemas.microsoft.com/office/drawing/2014/main" id="{0DA8FA26-AEF6-4ED9-9B10-11036AF8566C}"/>
              </a:ext>
            </a:extLst>
          </p:cNvPr>
          <p:cNvSpPr>
            <a:spLocks xmlns:a="http://schemas.openxmlformats.org/drawingml/2006/main" noGrp="1"/>
          </p:cNvSpPr>
          <p:nvPr/>
        </p:nvSpPr>
        <p:spPr>
          <a:xfrm xmlns:a="http://schemas.openxmlformats.org/drawingml/2006/main">
            <a:off x="685800" y="20955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AssemblyAI Voice Agent</a:t>
            </a:r>
          </a:p>
        </p:txBody>
      </p:sp>
      <p:sp>
        <p:nvSpPr>
          <p:cNvPr id="4" name="">
            <a:extLst xmlns:a="http://schemas.openxmlformats.org/drawingml/2006/main">
              <a:ext uri="{FF2B5EF4-FFF2-40B4-BE49-F238E27FC236}">
                <a16:creationId xmlns:a16="http://schemas.microsoft.com/office/drawing/2014/main" id="{C6FCE3C6-3751-462D-8A3D-E028C6D38A4A}"/>
              </a:ext>
            </a:extLst>
          </p:cNvPr>
          <p:cNvSpPr>
            <a:spLocks xmlns:a="http://schemas.openxmlformats.org/drawingml/2006/main" noGrp="1"/>
          </p:cNvSpPr>
          <p:nvPr/>
        </p:nvSpPr>
        <p:spPr>
          <a:xfrm xmlns:a="http://schemas.openxmlformats.org/drawingml/2006/main">
            <a:off x="685800" y="2581275"/>
            <a:ext cx="4857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Speech, turn-taking and agent audio</a:t>
            </a:r>
          </a:p>
        </p:txBody>
      </p:sp>
      <p:sp>
        <p:nvSpPr>
          <p:cNvPr id="5" name="">
            <a:extLst xmlns:a="http://schemas.openxmlformats.org/drawingml/2006/main">
              <a:ext uri="{FF2B5EF4-FFF2-40B4-BE49-F238E27FC236}">
                <a16:creationId xmlns:a16="http://schemas.microsoft.com/office/drawing/2014/main" id="{9D2F2A71-9187-4381-8549-9ED1053DE4C4}"/>
              </a:ext>
            </a:extLst>
          </p:cNvPr>
          <p:cNvSpPr>
            <a:spLocks xmlns:a="http://schemas.openxmlformats.org/drawingml/2006/main" noGrp="1"/>
          </p:cNvSpPr>
          <p:nvPr/>
        </p:nvSpPr>
        <p:spPr>
          <a:xfrm xmlns:a="http://schemas.openxmlformats.org/drawingml/2006/main">
            <a:off x="685800" y="3648075"/>
            <a:ext cx="5286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C3939"/>
                </a:solidFill>
                <a:latin typeface="Helvetica Neue"/>
                <a:ea typeface="Helvetica Neue"/>
                <a:cs typeface="Helvetica Neue"/>
              </a:defRPr>
            </a:pPr>
            <a:r>
              <a:rPr sz="2175" b="1">
                <a:solidFill>
                  <a:srgbClr val="1C3939"/>
                </a:solidFill>
                <a:latin typeface="Helvetica Neue"/>
                <a:ea typeface="Helvetica Neue"/>
                <a:cs typeface="Helvetica Neue"/>
              </a:rPr>
              <a:t>Nebius Nemotron-3.5-Lightning</a:t>
            </a:r>
          </a:p>
        </p:txBody>
      </p:sp>
      <p:sp>
        <p:nvSpPr>
          <p:cNvPr id="6" name="">
            <a:extLst xmlns:a="http://schemas.openxmlformats.org/drawingml/2006/main">
              <a:ext uri="{FF2B5EF4-FFF2-40B4-BE49-F238E27FC236}">
                <a16:creationId xmlns:a16="http://schemas.microsoft.com/office/drawing/2014/main" id="{0FAA9307-6332-4827-86EA-D91A12847237}"/>
              </a:ext>
            </a:extLst>
          </p:cNvPr>
          <p:cNvSpPr>
            <a:spLocks xmlns:a="http://schemas.openxmlformats.org/drawingml/2006/main" noGrp="1"/>
          </p:cNvSpPr>
          <p:nvPr/>
        </p:nvSpPr>
        <p:spPr>
          <a:xfrm xmlns:a="http://schemas.openxmlformats.org/drawingml/2006/main">
            <a:off x="685800" y="4524375"/>
            <a:ext cx="5048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Conversation model and independent structured extraction</a:t>
            </a:r>
          </a:p>
        </p:txBody>
      </p:sp>
      <p:sp>
        <p:nvSpPr>
          <p:cNvPr id="7" name="">
            <a:extLst xmlns:a="http://schemas.openxmlformats.org/drawingml/2006/main">
              <a:ext uri="{FF2B5EF4-FFF2-40B4-BE49-F238E27FC236}">
                <a16:creationId xmlns:a16="http://schemas.microsoft.com/office/drawing/2014/main" id="{1D6CF2B0-484F-415F-8EC9-FAC024AAB50A}"/>
              </a:ext>
            </a:extLst>
          </p:cNvPr>
          <p:cNvSpPr>
            <a:spLocks xmlns:a="http://schemas.openxmlformats.org/drawingml/2006/main" noGrp="1"/>
          </p:cNvSpPr>
          <p:nvPr/>
        </p:nvSpPr>
        <p:spPr>
          <a:xfrm xmlns:a="http://schemas.openxmlformats.org/drawingml/2006/main">
            <a:off x="6848475" y="1543050"/>
            <a:ext cx="4657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Application authority</a:t>
            </a:r>
          </a:p>
        </p:txBody>
      </p:sp>
      <p:sp>
        <p:nvSpPr>
          <p:cNvPr id="8" name="">
            <a:extLst xmlns:a="http://schemas.openxmlformats.org/drawingml/2006/main">
              <a:ext uri="{FF2B5EF4-FFF2-40B4-BE49-F238E27FC236}">
                <a16:creationId xmlns:a16="http://schemas.microsoft.com/office/drawing/2014/main" id="{D70A15DC-B107-40AD-947B-866857629BE3}"/>
              </a:ext>
            </a:extLst>
          </p:cNvPr>
          <p:cNvSpPr>
            <a:spLocks xmlns:a="http://schemas.openxmlformats.org/drawingml/2006/main" noGrp="1"/>
          </p:cNvSpPr>
          <p:nvPr/>
        </p:nvSpPr>
        <p:spPr>
          <a:xfrm xmlns:a="http://schemas.openxmlformats.org/drawingml/2006/main">
            <a:off x="6848475" y="20955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Cloudflare Workers</a:t>
            </a:r>
          </a:p>
        </p:txBody>
      </p:sp>
      <p:sp>
        <p:nvSpPr>
          <p:cNvPr id="9" name="">
            <a:extLst xmlns:a="http://schemas.openxmlformats.org/drawingml/2006/main">
              <a:ext uri="{FF2B5EF4-FFF2-40B4-BE49-F238E27FC236}">
                <a16:creationId xmlns:a16="http://schemas.microsoft.com/office/drawing/2014/main" id="{6D1DAF65-E602-49F1-9289-A0C92CD4962B}"/>
              </a:ext>
            </a:extLst>
          </p:cNvPr>
          <p:cNvSpPr>
            <a:spLocks xmlns:a="http://schemas.openxmlformats.org/drawingml/2006/main" noGrp="1"/>
          </p:cNvSpPr>
          <p:nvPr/>
        </p:nvSpPr>
        <p:spPr>
          <a:xfrm xmlns:a="http://schemas.openxmlformats.org/drawingml/2006/main">
            <a:off x="6848475" y="2581275"/>
            <a:ext cx="46577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Next.js through OpenNext</a:t>
            </a:r>
          </a:p>
        </p:txBody>
      </p:sp>
      <p:sp>
        <p:nvSpPr>
          <p:cNvPr id="10" name="">
            <a:extLst xmlns:a="http://schemas.openxmlformats.org/drawingml/2006/main">
              <a:ext uri="{FF2B5EF4-FFF2-40B4-BE49-F238E27FC236}">
                <a16:creationId xmlns:a16="http://schemas.microsoft.com/office/drawing/2014/main" id="{AAC79A20-7AAD-4C6D-B477-A72A698F1AD0}"/>
              </a:ext>
            </a:extLst>
          </p:cNvPr>
          <p:cNvSpPr>
            <a:spLocks xmlns:a="http://schemas.openxmlformats.org/drawingml/2006/main" noGrp="1"/>
          </p:cNvSpPr>
          <p:nvPr/>
        </p:nvSpPr>
        <p:spPr>
          <a:xfrm xmlns:a="http://schemas.openxmlformats.org/drawingml/2006/main">
            <a:off x="6848475" y="34671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Durable Object</a:t>
            </a:r>
          </a:p>
        </p:txBody>
      </p:sp>
      <p:sp>
        <p:nvSpPr>
          <p:cNvPr id="11" name="">
            <a:extLst xmlns:a="http://schemas.openxmlformats.org/drawingml/2006/main">
              <a:ext uri="{FF2B5EF4-FFF2-40B4-BE49-F238E27FC236}">
                <a16:creationId xmlns:a16="http://schemas.microsoft.com/office/drawing/2014/main" id="{36D80B6F-DAF7-414B-B0A8-775F4873C8B4}"/>
              </a:ext>
            </a:extLst>
          </p:cNvPr>
          <p:cNvSpPr>
            <a:spLocks xmlns:a="http://schemas.openxmlformats.org/drawingml/2006/main" noGrp="1"/>
          </p:cNvSpPr>
          <p:nvPr/>
        </p:nvSpPr>
        <p:spPr>
          <a:xfrm xmlns:a="http://schemas.openxmlformats.org/drawingml/2006/main">
            <a:off x="6848475" y="3952875"/>
            <a:ext cx="46577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Consent, evidence revisions and nurse takeover</a:t>
            </a:r>
          </a:p>
        </p:txBody>
      </p:sp>
      <p:sp>
        <p:nvSpPr>
          <p:cNvPr id="12" name="">
            <a:extLst xmlns:a="http://schemas.openxmlformats.org/drawingml/2006/main">
              <a:ext uri="{FF2B5EF4-FFF2-40B4-BE49-F238E27FC236}">
                <a16:creationId xmlns:a16="http://schemas.microsoft.com/office/drawing/2014/main" id="{03FCCCC7-EC6C-4507-AAC9-4D450BB06709}"/>
              </a:ext>
            </a:extLst>
          </p:cNvPr>
          <p:cNvSpPr>
            <a:spLocks xmlns:a="http://schemas.openxmlformats.org/drawingml/2006/main" noGrp="1"/>
          </p:cNvSpPr>
          <p:nvPr/>
        </p:nvSpPr>
        <p:spPr>
          <a:xfrm xmlns:a="http://schemas.openxmlformats.org/drawingml/2006/main">
            <a:off x="6848475" y="5057775"/>
            <a:ext cx="46577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967"/>
                </a:solidFill>
                <a:latin typeface="Helvetica Neue"/>
                <a:ea typeface="Helvetica Neue"/>
                <a:cs typeface="Helvetica Neue"/>
              </a:defRPr>
            </a:pPr>
            <a:r>
              <a:rPr sz="1800" b="0">
                <a:solidFill>
                  <a:srgbClr val="526967"/>
                </a:solidFill>
                <a:latin typeface="Helvetica Neue"/>
                <a:ea typeface="Helvetica Neue"/>
                <a:cs typeface="Helvetica Neue"/>
              </a:rPr>
              <a:t>D1 stores projections. R2 holds private exports.</a:t>
            </a:r>
          </a:p>
        </p:txBody>
      </p:sp>
      <p:sp>
        <p:nvSpPr>
          <p:cNvPr id="13" name="">
            <a:extLst xmlns:a="http://schemas.openxmlformats.org/drawingml/2006/main">
              <a:ext uri="{FF2B5EF4-FFF2-40B4-BE49-F238E27FC236}">
                <a16:creationId xmlns:a16="http://schemas.microsoft.com/office/drawing/2014/main" id="{D2FFE825-5BE4-47DB-978B-9637A0D12183}"/>
              </a:ext>
            </a:extLst>
          </p:cNvPr>
          <p:cNvSpPr>
            <a:spLocks xmlns:a="http://schemas.openxmlformats.org/drawingml/2006/main" noGrp="1"/>
          </p:cNvSpPr>
          <p:nvPr/>
        </p:nvSpPr>
        <p:spPr>
          <a:xfrm xmlns:a="http://schemas.openxmlformats.org/drawingml/2006/main">
            <a:off x="685800" y="6115050"/>
            <a:ext cx="1038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27873"/>
                </a:solidFill>
                <a:latin typeface="Helvetica Neue"/>
                <a:ea typeface="Helvetica Neue"/>
                <a:cs typeface="Helvetica Neue"/>
              </a:defRPr>
            </a:pPr>
            <a:r>
              <a:rPr sz="1725" b="0">
                <a:solidFill>
                  <a:srgbClr val="127873"/>
                </a:solidFill>
                <a:latin typeface="Helvetica Neue"/>
                <a:ea typeface="Helvetica Neue"/>
                <a:cs typeface="Helvetica Neue"/>
              </a:rPr>
              <a:t>Human conversation bypasses the automated providers after takeover.</a:t>
            </a:r>
          </a:p>
        </p:txBody>
      </p:sp>
      <p:sp>
        <p:nvSpPr>
          <p:cNvPr id="14" name="">
            <a:extLst xmlns:a="http://schemas.openxmlformats.org/drawingml/2006/main">
              <a:ext uri="{FF2B5EF4-FFF2-40B4-BE49-F238E27FC236}">
                <a16:creationId xmlns:a16="http://schemas.microsoft.com/office/drawing/2014/main" id="{5C6241F5-154E-4D43-98D5-DDDAD956D03E}"/>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05</a:t>
            </a:r>
          </a:p>
        </p:txBody>
      </p:sp>
    </p:spTree>
    <p:extLst>
      <p:ext uri="{BB962C8B-B14F-4D97-AF65-F5344CB8AC3E}">
        <p14:creationId xmlns:p14="http://schemas.microsoft.com/office/powerpoint/2010/main" val="2006317440"/>
      </p:ext>
    </p:extLst>
  </p:cSld>
</p:sld>
</file>

<file path=ppt/slides/slide6.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039ED75-CEFD-46F5-B2B4-D97DED57DBD7}"/>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Evidence and its limits</a:t>
            </a:r>
          </a:p>
        </p:txBody>
      </p:sp>
      <p:sp>
        <p:nvSpPr>
          <p:cNvPr id="2" name="">
            <a:extLst xmlns:a="http://schemas.openxmlformats.org/drawingml/2006/main">
              <a:ext uri="{FF2B5EF4-FFF2-40B4-BE49-F238E27FC236}">
                <a16:creationId xmlns:a16="http://schemas.microsoft.com/office/drawing/2014/main" id="{A0F72263-96B0-4B97-8601-E1DA5F0E8823}"/>
              </a:ext>
            </a:extLst>
          </p:cNvPr>
          <p:cNvSpPr>
            <a:spLocks xmlns:a="http://schemas.openxmlformats.org/drawingml/2006/main" noGrp="1"/>
          </p:cNvSpPr>
          <p:nvPr/>
        </p:nvSpPr>
        <p:spPr>
          <a:xfrm xmlns:a="http://schemas.openxmlformats.org/drawingml/2006/main">
            <a:off x="68580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168</a:t>
            </a:r>
          </a:p>
        </p:txBody>
      </p:sp>
      <p:sp>
        <p:nvSpPr>
          <p:cNvPr id="3" name="">
            <a:extLst xmlns:a="http://schemas.openxmlformats.org/drawingml/2006/main">
              <a:ext uri="{FF2B5EF4-FFF2-40B4-BE49-F238E27FC236}">
                <a16:creationId xmlns:a16="http://schemas.microsoft.com/office/drawing/2014/main" id="{9D5B7BEA-5404-4B63-9828-AB3773784AE2}"/>
              </a:ext>
            </a:extLst>
          </p:cNvPr>
          <p:cNvSpPr>
            <a:spLocks xmlns:a="http://schemas.openxmlformats.org/drawingml/2006/main" noGrp="1"/>
          </p:cNvSpPr>
          <p:nvPr/>
        </p:nvSpPr>
        <p:spPr>
          <a:xfrm xmlns:a="http://schemas.openxmlformats.org/drawingml/2006/main">
            <a:off x="68580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Unit tests pass</a:t>
            </a:r>
          </a:p>
        </p:txBody>
      </p:sp>
      <p:sp>
        <p:nvSpPr>
          <p:cNvPr id="4" name="">
            <a:extLst xmlns:a="http://schemas.openxmlformats.org/drawingml/2006/main">
              <a:ext uri="{FF2B5EF4-FFF2-40B4-BE49-F238E27FC236}">
                <a16:creationId xmlns:a16="http://schemas.microsoft.com/office/drawing/2014/main" id="{8B260D44-16A7-44BF-92F3-167067BC2E15}"/>
              </a:ext>
            </a:extLst>
          </p:cNvPr>
          <p:cNvSpPr>
            <a:spLocks xmlns:a="http://schemas.openxmlformats.org/drawingml/2006/main" noGrp="1"/>
          </p:cNvSpPr>
          <p:nvPr/>
        </p:nvSpPr>
        <p:spPr>
          <a:xfrm xmlns:a="http://schemas.openxmlformats.org/drawingml/2006/main">
            <a:off x="428625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177</a:t>
            </a:r>
          </a:p>
        </p:txBody>
      </p:sp>
      <p:sp>
        <p:nvSpPr>
          <p:cNvPr id="5" name="">
            <a:extLst xmlns:a="http://schemas.openxmlformats.org/drawingml/2006/main">
              <a:ext uri="{FF2B5EF4-FFF2-40B4-BE49-F238E27FC236}">
                <a16:creationId xmlns:a16="http://schemas.microsoft.com/office/drawing/2014/main" id="{7D498418-E35C-4B1A-93EF-657ED111A7A2}"/>
              </a:ext>
            </a:extLst>
          </p:cNvPr>
          <p:cNvSpPr>
            <a:spLocks xmlns:a="http://schemas.openxmlformats.org/drawingml/2006/main" noGrp="1"/>
          </p:cNvSpPr>
          <p:nvPr/>
        </p:nvSpPr>
        <p:spPr>
          <a:xfrm xmlns:a="http://schemas.openxmlformats.org/drawingml/2006/main">
            <a:off x="428625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Workers tests pass</a:t>
            </a:r>
          </a:p>
        </p:txBody>
      </p:sp>
      <p:sp>
        <p:nvSpPr>
          <p:cNvPr id="6" name="">
            <a:extLst xmlns:a="http://schemas.openxmlformats.org/drawingml/2006/main">
              <a:ext uri="{FF2B5EF4-FFF2-40B4-BE49-F238E27FC236}">
                <a16:creationId xmlns:a16="http://schemas.microsoft.com/office/drawing/2014/main" id="{DDA222C6-92F1-46A6-9102-B53E70C31CA3}"/>
              </a:ext>
            </a:extLst>
          </p:cNvPr>
          <p:cNvSpPr>
            <a:spLocks xmlns:a="http://schemas.openxmlformats.org/drawingml/2006/main" noGrp="1"/>
          </p:cNvSpPr>
          <p:nvPr/>
        </p:nvSpPr>
        <p:spPr>
          <a:xfrm xmlns:a="http://schemas.openxmlformats.org/drawingml/2006/main">
            <a:off x="788670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29</a:t>
            </a:r>
          </a:p>
        </p:txBody>
      </p:sp>
      <p:sp>
        <p:nvSpPr>
          <p:cNvPr id="7" name="">
            <a:extLst xmlns:a="http://schemas.openxmlformats.org/drawingml/2006/main">
              <a:ext uri="{FF2B5EF4-FFF2-40B4-BE49-F238E27FC236}">
                <a16:creationId xmlns:a16="http://schemas.microsoft.com/office/drawing/2014/main" id="{11A8A73C-8EC9-4FCD-842E-6F7AF79F8AA6}"/>
              </a:ext>
            </a:extLst>
          </p:cNvPr>
          <p:cNvSpPr>
            <a:spLocks xmlns:a="http://schemas.openxmlformats.org/drawingml/2006/main" noGrp="1"/>
          </p:cNvSpPr>
          <p:nvPr/>
        </p:nvSpPr>
        <p:spPr>
          <a:xfrm xmlns:a="http://schemas.openxmlformats.org/drawingml/2006/main">
            <a:off x="788670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Browser tests pass</a:t>
            </a:r>
          </a:p>
        </p:txBody>
      </p:sp>
      <p:sp>
        <p:nvSpPr>
          <p:cNvPr id="8" name="">
            <a:extLst xmlns:a="http://schemas.openxmlformats.org/drawingml/2006/main">
              <a:ext uri="{FF2B5EF4-FFF2-40B4-BE49-F238E27FC236}">
                <a16:creationId xmlns:a16="http://schemas.microsoft.com/office/drawing/2014/main" id="{ABFF1553-6626-4AA7-98BD-139DF4617DF2}"/>
              </a:ext>
            </a:extLst>
          </p:cNvPr>
          <p:cNvSpPr>
            <a:spLocks xmlns:a="http://schemas.openxmlformats.org/drawingml/2006/main" noGrp="1"/>
          </p:cNvSpPr>
          <p:nvPr/>
        </p:nvSpPr>
        <p:spPr>
          <a:xfrm xmlns:a="http://schemas.openxmlformats.org/drawingml/2006/main">
            <a:off x="685800" y="34194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526967"/>
                </a:solidFill>
                <a:latin typeface="Helvetica Neue"/>
                <a:ea typeface="Helvetica Neue"/>
                <a:cs typeface="Helvetica Neue"/>
              </a:defRPr>
            </a:pPr>
            <a:r>
              <a:rPr sz="1725" b="0">
                <a:solidFill>
                  <a:srgbClr val="526967"/>
                </a:solidFill>
                <a:latin typeface="Helvetica Neue"/>
                <a:ea typeface="Helvetica Neue"/>
                <a:cs typeface="Helvetica Neue"/>
              </a:rPr>
              <a:t>29 Sep 2026 local regression run. 19 tooling tests also passed.
The regression run skipped one separate live-provider test.</a:t>
            </a:r>
          </a:p>
        </p:txBody>
      </p:sp>
      <p:sp>
        <p:nvSpPr>
          <p:cNvPr id="9" name="">
            <a:extLst xmlns:a="http://schemas.openxmlformats.org/drawingml/2006/main">
              <a:ext uri="{FF2B5EF4-FFF2-40B4-BE49-F238E27FC236}">
                <a16:creationId xmlns:a16="http://schemas.microsoft.com/office/drawing/2014/main" id="{15CFD3BF-BF88-4D81-99E8-A041E9E89FEE}"/>
              </a:ext>
            </a:extLst>
          </p:cNvPr>
          <p:cNvSpPr>
            <a:spLocks xmlns:a="http://schemas.openxmlformats.org/drawingml/2006/main" noGrp="1"/>
          </p:cNvSpPr>
          <p:nvPr/>
        </p:nvSpPr>
        <p:spPr>
          <a:xfrm xmlns:a="http://schemas.openxmlformats.org/drawingml/2006/main">
            <a:off x="685800" y="4657725"/>
            <a:ext cx="5334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Local real-provider proof</a:t>
            </a:r>
          </a:p>
        </p:txBody>
      </p:sp>
      <p:sp>
        <p:nvSpPr>
          <p:cNvPr id="10" name="">
            <a:extLst xmlns:a="http://schemas.openxmlformats.org/drawingml/2006/main">
              <a:ext uri="{FF2B5EF4-FFF2-40B4-BE49-F238E27FC236}">
                <a16:creationId xmlns:a16="http://schemas.microsoft.com/office/drawing/2014/main" id="{A6932F5E-D933-46D2-9655-78EB23DB1837}"/>
              </a:ext>
            </a:extLst>
          </p:cNvPr>
          <p:cNvSpPr>
            <a:spLocks xmlns:a="http://schemas.openxmlformats.org/drawingml/2006/main" noGrp="1"/>
          </p:cNvSpPr>
          <p:nvPr/>
        </p:nvSpPr>
        <p:spPr>
          <a:xfrm xmlns:a="http://schemas.openxmlformats.org/drawingml/2006/main">
            <a:off x="685800" y="5210175"/>
            <a:ext cx="5238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C3939"/>
                </a:solidFill>
                <a:latin typeface="Helvetica Neue"/>
                <a:ea typeface="Helvetica Neue"/>
                <a:cs typeface="Helvetica Neue"/>
              </a:defRPr>
            </a:pPr>
            <a:r>
              <a:rPr sz="1800" b="0">
                <a:solidFill>
                  <a:srgbClr val="1C3939"/>
                </a:solidFill>
                <a:latin typeface="Helvetica Neue"/>
                <a:ea typeface="Helvetica Neue"/>
                <a:cs typeface="Helvetica Neue"/>
              </a:rPr>
              <a:t>29 Sep 2026: finalized transcript, evidence-linked fact and two-way browser audio using recorded microphones.</a:t>
            </a:r>
          </a:p>
        </p:txBody>
      </p:sp>
      <p:sp>
        <p:nvSpPr>
          <p:cNvPr id="11" name="">
            <a:extLst xmlns:a="http://schemas.openxmlformats.org/drawingml/2006/main">
              <a:ext uri="{FF2B5EF4-FFF2-40B4-BE49-F238E27FC236}">
                <a16:creationId xmlns:a16="http://schemas.microsoft.com/office/drawing/2014/main" id="{9B04C359-02C6-4F59-982F-68C8770CB0C1}"/>
              </a:ext>
            </a:extLst>
          </p:cNvPr>
          <p:cNvSpPr>
            <a:spLocks xmlns:a="http://schemas.openxmlformats.org/drawingml/2006/main" noGrp="1"/>
          </p:cNvSpPr>
          <p:nvPr/>
        </p:nvSpPr>
        <p:spPr>
          <a:xfrm xmlns:a="http://schemas.openxmlformats.org/drawingml/2006/main">
            <a:off x="6819900" y="4657725"/>
            <a:ext cx="46863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Remaining release gates</a:t>
            </a:r>
          </a:p>
        </p:txBody>
      </p:sp>
      <p:sp>
        <p:nvSpPr>
          <p:cNvPr id="12" name="">
            <a:extLst xmlns:a="http://schemas.openxmlformats.org/drawingml/2006/main">
              <a:ext uri="{FF2B5EF4-FFF2-40B4-BE49-F238E27FC236}">
                <a16:creationId xmlns:a16="http://schemas.microsoft.com/office/drawing/2014/main" id="{28928B2D-C28C-4F72-A516-27D8354C9E14}"/>
              </a:ext>
            </a:extLst>
          </p:cNvPr>
          <p:cNvSpPr>
            <a:spLocks xmlns:a="http://schemas.openxmlformats.org/drawingml/2006/main" noGrp="1"/>
          </p:cNvSpPr>
          <p:nvPr/>
        </p:nvSpPr>
        <p:spPr>
          <a:xfrm xmlns:a="http://schemas.openxmlformats.org/drawingml/2006/main">
            <a:off x="6819900" y="5467350"/>
            <a:ext cx="46863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967"/>
                </a:solidFill>
                <a:latin typeface="Helvetica Neue"/>
                <a:ea typeface="Helvetica Neue"/>
                <a:cs typeface="Helvetica Neue"/>
              </a:defRPr>
            </a:pPr>
            <a:r>
              <a:rPr sz="1800" b="0">
                <a:solidFill>
                  <a:srgbClr val="526967"/>
                </a:solidFill>
                <a:latin typeface="Helvetica Neue"/>
                <a:ea typeface="Helvetica Neue"/>
                <a:cs typeface="Helvetica Neue"/>
              </a:rPr>
              <a:t>Hosted operation, physical-device audio, provider recording controls and real telephone calls.</a:t>
            </a:r>
          </a:p>
        </p:txBody>
      </p:sp>
      <p:sp>
        <p:nvSpPr>
          <p:cNvPr id="13" name="">
            <a:extLst xmlns:a="http://schemas.openxmlformats.org/drawingml/2006/main">
              <a:ext uri="{FF2B5EF4-FFF2-40B4-BE49-F238E27FC236}">
                <a16:creationId xmlns:a16="http://schemas.microsoft.com/office/drawing/2014/main" id="{2E10C365-72BA-4834-A249-84C6FD9DB886}"/>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06</a:t>
            </a:r>
          </a:p>
        </p:txBody>
      </p:sp>
    </p:spTree>
    <p:extLst>
      <p:ext uri="{BB962C8B-B14F-4D97-AF65-F5344CB8AC3E}">
        <p14:creationId xmlns:p14="http://schemas.microsoft.com/office/powerpoint/2010/main" val="114865209"/>
      </p:ext>
    </p:extLst>
  </p:cSld>
</p:sld>
</file>

<file path=ppt/slides/slide7.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9026F6A-DF64-40D4-9600-500FD5FC607E}"/>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Proposed users and next validation</a:t>
            </a:r>
          </a:p>
        </p:txBody>
      </p:sp>
      <p:sp>
        <p:nvSpPr>
          <p:cNvPr id="2" name="">
            <a:extLst xmlns:a="http://schemas.openxmlformats.org/drawingml/2006/main">
              <a:ext uri="{FF2B5EF4-FFF2-40B4-BE49-F238E27FC236}">
                <a16:creationId xmlns:a16="http://schemas.microsoft.com/office/drawing/2014/main" id="{C7672B6D-2791-41F8-A286-E873AD6A204B}"/>
              </a:ext>
            </a:extLst>
          </p:cNvPr>
          <p:cNvSpPr>
            <a:spLocks xmlns:a="http://schemas.openxmlformats.org/drawingml/2006/main" noGrp="1"/>
          </p:cNvSpPr>
          <p:nvPr/>
        </p:nvSpPr>
        <p:spPr>
          <a:xfrm xmlns:a="http://schemas.openxmlformats.org/drawingml/2006/main">
            <a:off x="685800" y="157162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Proposed users</a:t>
            </a:r>
          </a:p>
        </p:txBody>
      </p:sp>
      <p:sp>
        <p:nvSpPr>
          <p:cNvPr id="3" name="">
            <a:extLst xmlns:a="http://schemas.openxmlformats.org/drawingml/2006/main">
              <a:ext uri="{FF2B5EF4-FFF2-40B4-BE49-F238E27FC236}">
                <a16:creationId xmlns:a16="http://schemas.microsoft.com/office/drawing/2014/main" id="{76D9883C-EAAB-4948-917B-77511D7F9B02}"/>
              </a:ext>
            </a:extLst>
          </p:cNvPr>
          <p:cNvSpPr>
            <a:spLocks xmlns:a="http://schemas.openxmlformats.org/drawingml/2006/main" noGrp="1"/>
          </p:cNvSpPr>
          <p:nvPr/>
        </p:nvSpPr>
        <p:spPr>
          <a:xfrm xmlns:a="http://schemas.openxmlformats.org/drawingml/2006/main">
            <a:off x="685800" y="2143125"/>
            <a:ext cx="5048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1C3939"/>
                </a:solidFill>
                <a:latin typeface="Helvetica Neue"/>
                <a:ea typeface="Helvetica Neue"/>
                <a:cs typeface="Helvetica Neue"/>
              </a:defRPr>
            </a:pPr>
            <a:r>
              <a:rPr sz="2400" b="1">
                <a:solidFill>
                  <a:srgbClr val="1C3939"/>
                </a:solidFill>
                <a:latin typeface="Helvetica Neue"/>
                <a:ea typeface="Helvetica Neue"/>
                <a:cs typeface="Helvetica Neue"/>
              </a:rPr>
              <a:t>Nurses who need caller context before joining a conversation.</a:t>
            </a:r>
          </a:p>
        </p:txBody>
      </p:sp>
      <p:sp>
        <p:nvSpPr>
          <p:cNvPr id="4" name="">
            <a:extLst xmlns:a="http://schemas.openxmlformats.org/drawingml/2006/main">
              <a:ext uri="{FF2B5EF4-FFF2-40B4-BE49-F238E27FC236}">
                <a16:creationId xmlns:a16="http://schemas.microsoft.com/office/drawing/2014/main" id="{411C7B69-F3F9-4565-AA5C-61D3E3FFB977}"/>
              </a:ext>
            </a:extLst>
          </p:cNvPr>
          <p:cNvSpPr>
            <a:spLocks xmlns:a="http://schemas.openxmlformats.org/drawingml/2006/main" noGrp="1"/>
          </p:cNvSpPr>
          <p:nvPr/>
        </p:nvSpPr>
        <p:spPr>
          <a:xfrm xmlns:a="http://schemas.openxmlformats.org/drawingml/2006/main">
            <a:off x="685800" y="397192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Business hypothesis</a:t>
            </a:r>
          </a:p>
        </p:txBody>
      </p:sp>
      <p:sp>
        <p:nvSpPr>
          <p:cNvPr id="5" name="">
            <a:extLst xmlns:a="http://schemas.openxmlformats.org/drawingml/2006/main">
              <a:ext uri="{FF2B5EF4-FFF2-40B4-BE49-F238E27FC236}">
                <a16:creationId xmlns:a16="http://schemas.microsoft.com/office/drawing/2014/main" id="{979811E8-0CD5-4D2D-9988-BE6E762E9993}"/>
              </a:ext>
            </a:extLst>
          </p:cNvPr>
          <p:cNvSpPr>
            <a:spLocks xmlns:a="http://schemas.openxmlformats.org/drawingml/2006/main" noGrp="1"/>
          </p:cNvSpPr>
          <p:nvPr/>
        </p:nvSpPr>
        <p:spPr>
          <a:xfrm xmlns:a="http://schemas.openxmlformats.org/drawingml/2006/main">
            <a:off x="685800" y="4533900"/>
            <a:ext cx="5000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A paid workspace for nurse-line operators, if interviews and workflow trials establish value.</a:t>
            </a:r>
          </a:p>
        </p:txBody>
      </p:sp>
      <p:sp>
        <p:nvSpPr>
          <p:cNvPr id="6" name="">
            <a:extLst xmlns:a="http://schemas.openxmlformats.org/drawingml/2006/main">
              <a:ext uri="{FF2B5EF4-FFF2-40B4-BE49-F238E27FC236}">
                <a16:creationId xmlns:a16="http://schemas.microsoft.com/office/drawing/2014/main" id="{33ED1AC2-D7C1-4916-BB5E-AD2D6658CB30}"/>
              </a:ext>
            </a:extLst>
          </p:cNvPr>
          <p:cNvSpPr>
            <a:spLocks xmlns:a="http://schemas.openxmlformats.org/drawingml/2006/main" noGrp="1"/>
          </p:cNvSpPr>
          <p:nvPr/>
        </p:nvSpPr>
        <p:spPr>
          <a:xfrm xmlns:a="http://schemas.openxmlformats.org/drawingml/2006/main">
            <a:off x="6934200" y="15716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Next validation</a:t>
            </a:r>
          </a:p>
        </p:txBody>
      </p:sp>
      <p:sp>
        <p:nvSpPr>
          <p:cNvPr id="7" name="">
            <a:extLst xmlns:a="http://schemas.openxmlformats.org/drawingml/2006/main">
              <a:ext uri="{FF2B5EF4-FFF2-40B4-BE49-F238E27FC236}">
                <a16:creationId xmlns:a16="http://schemas.microsoft.com/office/drawing/2014/main" id="{F3BE83C0-8C13-478B-AE1B-823B3F9A0E86}"/>
              </a:ext>
            </a:extLst>
          </p:cNvPr>
          <p:cNvSpPr>
            <a:spLocks xmlns:a="http://schemas.openxmlformats.org/drawingml/2006/main" noGrp="1"/>
          </p:cNvSpPr>
          <p:nvPr/>
        </p:nvSpPr>
        <p:spPr>
          <a:xfrm xmlns:a="http://schemas.openxmlformats.org/drawingml/2006/main">
            <a:off x="6934200" y="22002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Nurse interviews and fictional case reviews</a:t>
            </a:r>
          </a:p>
        </p:txBody>
      </p:sp>
      <p:sp>
        <p:nvSpPr>
          <p:cNvPr id="8" name="">
            <a:extLst xmlns:a="http://schemas.openxmlformats.org/drawingml/2006/main">
              <a:ext uri="{FF2B5EF4-FFF2-40B4-BE49-F238E27FC236}">
                <a16:creationId xmlns:a16="http://schemas.microsoft.com/office/drawing/2014/main" id="{0DFD6CF7-0DDB-4E60-8214-4FA111DA4BAE}"/>
              </a:ext>
            </a:extLst>
          </p:cNvPr>
          <p:cNvSpPr>
            <a:spLocks xmlns:a="http://schemas.openxmlformats.org/drawingml/2006/main" noGrp="1"/>
          </p:cNvSpPr>
          <p:nvPr/>
        </p:nvSpPr>
        <p:spPr>
          <a:xfrm xmlns:a="http://schemas.openxmlformats.org/drawingml/2006/main">
            <a:off x="6934200" y="31908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Two physical devices and audible handoff</a:t>
            </a:r>
          </a:p>
        </p:txBody>
      </p:sp>
      <p:sp>
        <p:nvSpPr>
          <p:cNvPr id="9" name="">
            <a:extLst xmlns:a="http://schemas.openxmlformats.org/drawingml/2006/main">
              <a:ext uri="{FF2B5EF4-FFF2-40B4-BE49-F238E27FC236}">
                <a16:creationId xmlns:a16="http://schemas.microsoft.com/office/drawing/2014/main" id="{6F5E627E-743E-41C9-A1E9-FD4F13DECD42}"/>
              </a:ext>
            </a:extLst>
          </p:cNvPr>
          <p:cNvSpPr>
            <a:spLocks xmlns:a="http://schemas.openxmlformats.org/drawingml/2006/main" noGrp="1"/>
          </p:cNvSpPr>
          <p:nvPr/>
        </p:nvSpPr>
        <p:spPr>
          <a:xfrm xmlns:a="http://schemas.openxmlformats.org/drawingml/2006/main">
            <a:off x="6934200" y="41814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Provider recording controls and hosted acceptance</a:t>
            </a:r>
          </a:p>
        </p:txBody>
      </p:sp>
      <p:sp>
        <p:nvSpPr>
          <p:cNvPr id="10" name="">
            <a:extLst xmlns:a="http://schemas.openxmlformats.org/drawingml/2006/main">
              <a:ext uri="{FF2B5EF4-FFF2-40B4-BE49-F238E27FC236}">
                <a16:creationId xmlns:a16="http://schemas.microsoft.com/office/drawing/2014/main" id="{AD0E6681-566C-4352-B174-6B7DA8959EE5}"/>
              </a:ext>
            </a:extLst>
          </p:cNvPr>
          <p:cNvSpPr>
            <a:spLocks xmlns:a="http://schemas.openxmlformats.org/drawingml/2006/main" noGrp="1"/>
          </p:cNvSpPr>
          <p:nvPr/>
        </p:nvSpPr>
        <p:spPr>
          <a:xfrm xmlns:a="http://schemas.openxmlformats.org/drawingml/2006/main">
            <a:off x="6934200" y="5172075"/>
            <a:ext cx="4514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Live telephone call for the optional phone path</a:t>
            </a:r>
          </a:p>
        </p:txBody>
      </p:sp>
      <p:sp>
        <p:nvSpPr>
          <p:cNvPr id="11" name="">
            <a:extLst xmlns:a="http://schemas.openxmlformats.org/drawingml/2006/main">
              <a:ext uri="{FF2B5EF4-FFF2-40B4-BE49-F238E27FC236}">
                <a16:creationId xmlns:a16="http://schemas.microsoft.com/office/drawing/2014/main" id="{8D57C148-916D-4C78-B357-A15DF95C5054}"/>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07</a:t>
            </a:r>
          </a:p>
        </p:txBody>
      </p:sp>
    </p:spTree>
    <p:extLst>
      <p:ext uri="{BB962C8B-B14F-4D97-AF65-F5344CB8AC3E}">
        <p14:creationId xmlns:p14="http://schemas.microsoft.com/office/powerpoint/2010/main" val="13010901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2026-09-29T09:43:39.1750000Z</dcterms:created>
  <dcterms:modified xsi:type="dcterms:W3CDTF">2026-09-29T09:43:39.1750000Z</dcterms:modified>
</coreProperties>
</file>
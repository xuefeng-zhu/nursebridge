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83388b77bb4eda" /><Relationship Type="http://schemas.openxmlformats.org/officeDocument/2006/relationships/extended-properties" Target="/docProps/app.xml" Id="R6b8b330b8d0341eb" /><Relationship Type="http://schemas.openxmlformats.org/officeDocument/2006/relationships/officeDocument" Target="/ppt/presentation.xml" Id="R22e642abf56d43f5" /></Relationships>
</file>

<file path=ppt/presentation.xml><?xml version="1.0" encoding="utf-8"?>
<p:presentation xmlns:p="http://schemas.openxmlformats.org/presentationml/2006/main">
  <p:sldMasterIdLst>
    <p:sldMasterId xmlns:r="http://schemas.openxmlformats.org/officeDocument/2006/relationships" id="2147483648" r:id="R215b033b0e854009"/>
  </p:sldMasterIdLst>
  <p:notesMasterIdLst>
    <p:notesMasterId xmlns:r="http://schemas.openxmlformats.org/officeDocument/2006/relationships" r:id="R97b4dd31e2b942e7"/>
  </p:notesMasterIdLst>
  <p:sldIdLst>
    <p:sldId xmlns:r="http://schemas.openxmlformats.org/officeDocument/2006/relationships" id="256" r:id="R398fdfd112374393"/>
    <p:sldId xmlns:r="http://schemas.openxmlformats.org/officeDocument/2006/relationships" id="257" r:id="Re37a5e8c58d345bb"/>
    <p:sldId xmlns:r="http://schemas.openxmlformats.org/officeDocument/2006/relationships" id="258" r:id="Redb9b8f75bf64110"/>
    <p:sldId xmlns:r="http://schemas.openxmlformats.org/officeDocument/2006/relationships" id="259" r:id="Ra27aecb7bc224279"/>
    <p:sldId xmlns:r="http://schemas.openxmlformats.org/officeDocument/2006/relationships" id="260" r:id="Re95a83ea9185498e"/>
    <p:sldId xmlns:r="http://schemas.openxmlformats.org/officeDocument/2006/relationships" id="261" r:id="Re8d33a99152148b1"/>
    <p:sldId xmlns:r="http://schemas.openxmlformats.org/officeDocument/2006/relationships" id="262" r:id="Rd818130f3c874c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984f5016f7458f" /><Relationship Type="http://schemas.openxmlformats.org/officeDocument/2006/relationships/slideMaster" Target="/ppt/slideMasters/slideMaster1.xml" Id="R215b033b0e854009" /><Relationship Type="http://schemas.openxmlformats.org/officeDocument/2006/relationships/notesMaster" Target="/ppt/notesMasters/notesMaster1.xml" Id="R97b4dd31e2b942e7" /><Relationship Type="http://schemas.openxmlformats.org/officeDocument/2006/relationships/presProps" Target="/ppt/presProps.xml" Id="Rcd1daaeadf1e4dab" /><Relationship Type="http://schemas.openxmlformats.org/officeDocument/2006/relationships/tableStyles" Target="/ppt/tableStyles.xml" Id="Rc0f730728af44a46" /><Relationship Type="http://schemas.openxmlformats.org/officeDocument/2006/relationships/slide" Target="/ppt/slides/slide1.xml" Id="R398fdfd112374393" /><Relationship Type="http://schemas.openxmlformats.org/officeDocument/2006/relationships/slide" Target="/ppt/slides/slide2.xml" Id="Re37a5e8c58d345bb" /><Relationship Type="http://schemas.openxmlformats.org/officeDocument/2006/relationships/slide" Target="/ppt/slides/slide3.xml" Id="Redb9b8f75bf64110" /><Relationship Type="http://schemas.openxmlformats.org/officeDocument/2006/relationships/slide" Target="/ppt/slides/slide4.xml" Id="Ra27aecb7bc224279" /><Relationship Type="http://schemas.openxmlformats.org/officeDocument/2006/relationships/slide" Target="/ppt/slides/slide5.xml" Id="Re95a83ea9185498e" /><Relationship Type="http://schemas.openxmlformats.org/officeDocument/2006/relationships/slide" Target="/ppt/slides/slide6.xml" Id="Re8d33a99152148b1" /><Relationship Type="http://schemas.openxmlformats.org/officeDocument/2006/relationships/slide" Target="/ppt/slides/slide7.xml" Id="Rd818130f3c874c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62b5c6f3f847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bff0f2d2144c80" /><Relationship Type="http://schemas.openxmlformats.org/officeDocument/2006/relationships/notesMaster" Target="/ppt/notesMasters/notesMaster1.xml" Id="R9c4d1e81911b4a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af1902bb4a4d22" /><Relationship Type="http://schemas.openxmlformats.org/officeDocument/2006/relationships/notesMaster" Target="/ppt/notesMasters/notesMaster1.xml" Id="Re22eee5ac83948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a1f9568231477d" /><Relationship Type="http://schemas.openxmlformats.org/officeDocument/2006/relationships/notesMaster" Target="/ppt/notesMasters/notesMaster1.xml" Id="Raa0473ac8b2f4c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e240200c264f58" /><Relationship Type="http://schemas.openxmlformats.org/officeDocument/2006/relationships/notesMaster" Target="/ppt/notesMasters/notesMaster1.xml" Id="R49963c7079b34d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f193a23105423d" /><Relationship Type="http://schemas.openxmlformats.org/officeDocument/2006/relationships/notesMaster" Target="/ppt/notesMasters/notesMaster1.xml" Id="R1543e55ad6ad4d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c27124be6c4655" /><Relationship Type="http://schemas.openxmlformats.org/officeDocument/2006/relationships/notesMaster" Target="/ppt/notesMasters/notesMaster1.xml" Id="Rf74a5599a15449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d72b9b692b438f" /><Relationship Type="http://schemas.openxmlformats.org/officeDocument/2006/relationships/notesMaster" Target="/ppt/notesMasters/notesMaster1.xml" Id="Rd6636d40a9f84f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NurseBridge is a fictional simulation, not for medical care. Product sources: docs/architecture.md, docs/voice-agent.md and docs/demo-script.md. Actual app captures under artifacts/demo/source show labeled local mock replay. No production, clinical, physical-device or real telephone-network acceptance is claimed.</a:t>
            </a:r>
          </a:p>
          <a:p xmlns:a="http://schemas.openxmlformats.org/drawingml/2006/main">
            <a:r>
              <a:t>AssemblyAI Voice Agent Hackathon submission deck. All caller information is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NurseBridge is a fictional simulation, not for medical care. Product sources: docs/architecture.md, docs/voice-agent.md and docs/demo-script.md. Actual app captures under artifacts/demo/source show labeled local mock replay. No production, clinical, physical-device or real telephone-network acceptance is claimed.</a:t>
            </a:r>
          </a:p>
          <a:p xmlns:a="http://schemas.openxmlformats.org/drawingml/2006/main">
            <a:r>
              <a:t>The problem and proposed benefit are hypotheses for nurse workflow research. Screenshot: artifacts/demo/source/caller-intake.png.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NurseBridge is a fictional simulation, not for medical care. Product sources: docs/architecture.md, docs/voice-agent.md and docs/demo-script.md. Actual app captures under artifacts/demo/source show labeled local mock replay. No production, clinical, physical-device or real telephone-network acceptance is claimed.</a:t>
            </a:r>
          </a:p>
          <a:p xmlns:a="http://schemas.openxmlformats.org/drawingml/2006/main">
            <a:r>
              <a:t>Screenshot: artifacts/demo/source/human-handoff.png. Mock intake fixtures and actual browser audio transport are separate layers. The capture uses synthetic microphone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NurseBridge is a fictional simulation, not for medical care. Product sources: docs/architecture.md, docs/voice-agent.md and docs/demo-script.md. Actual app captures under artifacts/demo/source show labeled local mock replay. No production, clinical, physical-device or real telephone-network acceptance is claimed.</a:t>
            </a:r>
          </a:p>
          <a:p xmlns:a="http://schemas.openxmlformats.org/drawingml/2006/main">
            <a:r>
              <a:t>Screenshot: artifacts/demo/source/nurse-evidence.png. Original fictional correction: I need to correct that: the headache started this morning, not yesterday. Supporting words establish provenance rather than medical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NurseBridge is a fictional simulation, not for medical care. Product sources: docs/architecture.md, docs/voice-agent.md and docs/demo-script.md. Actual app captures under artifacts/demo/source show labeled local mock replay. No production, clinical, physical-device or real telephone-network acceptance is claimed.</a:t>
            </a:r>
          </a:p>
          <a:p xmlns:a="http://schemas.openxmlformats.org/drawingml/2006/main">
            <a:r>
              <a:t>The AssemblyAI conversation uses configured Nebius Nemotron-3.5-Lightning. Independent extraction validates finalized caller evidence. The CallSession Durable Object controls consent and human takeover. D1 stores projections and R2 private exports.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NurseBridge is a fictional simulation, not for medical care. Product sources: docs/architecture.md, docs/voice-agent.md and docs/demo-script.md. Actual app captures under artifacts/demo/source show labeled local mock replay. No production, clinical, physical-device or real telephone-network acceptance is claimed.</a:t>
            </a:r>
          </a:p>
          <a:p xmlns:a="http://schemas.openxmlformats.org/drawingml/2006/main">
            <a:r>
              <a:t>Sources: docs/test-results.md and docs/evidence/polished-live-voice-2026-09-29.json. Regression results: 168 unit, 177 Workers, 19 tooling, 29 browser, with one live-provider test skipped in that regression run. Separate opted-in local AssemblyAI/Nebius acceptance passed on the polished source revision 743cce2 on 29 Sep 2026 in 30.8 seconds, using recorded microphones. It produced one finalized caller turn, one evidence-linked fact, three assistant turns, non-silent human playback in both receiving worklets, zero stale agent samples, and zero dropped frames. The case finished CLOSED and deleted, with no pending provider deletions or unresolved provider connections. These are individual local observations, not reliability or latency guarantees. Provider API logical deletion is not proof of physical erasure or backup expiry. Public live activation still requires recording-control and physical-device acceptance. No hosted deployment or real telephone-network acceptance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NurseBridge is a fictional simulation, not for medical care. Product sources: docs/architecture.md, docs/voice-agent.md and docs/demo-script.md. Actual app captures under artifacts/demo/source show labeled local mock replay. No production, clinical, physical-device or real telephone-network acceptance is claimed.</a:t>
            </a:r>
          </a:p>
          <a:p xmlns:a="http://schemas.openxmlformats.org/drawingml/2006/main">
            <a:r>
              <a:t>Proposed users and business model remain hypotheses. No customers, clinical partners, user interviews, measured time savings or clinical outcomes are claimed. Pending verification sources: docs/production-readiness.md, docs/phone-inbound.md and docs/safety-and-privacy.md.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a97235d7e448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beb0d34dfc42b1" /><Relationship Type="http://schemas.openxmlformats.org/officeDocument/2006/relationships/slideLayout" Target="/ppt/slideLayouts/slideLayout1.xml" Id="R3d8266d3f3c44d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8266d3f3c44d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8b1ea308884b50" /><Relationship Type="http://schemas.openxmlformats.org/officeDocument/2006/relationships/notesSlide" Target="/ppt/notesSlides/notesSlide1.xml" Id="R2eeeb9e5f1c44a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28677f3615a47b1" /><Relationship Type="http://schemas.openxmlformats.org/officeDocument/2006/relationships/image" Target="/ppt/media/image.png" Id="Re4801f1d3ac54dfd" /><Relationship Type="http://schemas.openxmlformats.org/officeDocument/2006/relationships/notesSlide" Target="/ppt/notesSlides/notesSlide2.xml" Id="R798811989ad142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2e65bc33714052" /><Relationship Type="http://schemas.openxmlformats.org/officeDocument/2006/relationships/image" Target="/ppt/media/image2.png" Id="R2bd2da7530bc4511" /><Relationship Type="http://schemas.openxmlformats.org/officeDocument/2006/relationships/notesSlide" Target="/ppt/notesSlides/notesSlide3.xml" Id="R4133b3618fbe4f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335108fa2f24ac0" /><Relationship Type="http://schemas.openxmlformats.org/officeDocument/2006/relationships/image" Target="/ppt/media/image3.png" Id="Rb1c644857b084ac5" /><Relationship Type="http://schemas.openxmlformats.org/officeDocument/2006/relationships/notesSlide" Target="/ppt/notesSlides/notesSlide4.xml" Id="R8571c2027f9d4e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ab74fa0938643f3" /><Relationship Type="http://schemas.openxmlformats.org/officeDocument/2006/relationships/notesSlide" Target="/ppt/notesSlides/notesSlide5.xml" Id="R0d303378bca243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151b9b04fca4c03" /><Relationship Type="http://schemas.openxmlformats.org/officeDocument/2006/relationships/notesSlide" Target="/ppt/notesSlides/notesSlide6.xml" Id="Rb14d3ae3bac94d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22df9f3418a46af" /><Relationship Type="http://schemas.openxmlformats.org/officeDocument/2006/relationships/notesSlide" Target="/ppt/notesSlides/notesSlide7.xml" Id="R88f90509855043a2" /></Relationships>
</file>

<file path=ppt/slides/slide1.xml><?xml version="1.0" encoding="utf-8"?>
<p:sld xmlns:p="http://schemas.openxmlformats.org/presentationml/2006/main">
  <p:cSld>
    <p:bg>
      <p:bgPr>
        <a:solidFill xmlns:a="http://schemas.openxmlformats.org/drawingml/2006/main">
          <a:srgbClr val="1C393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D8D5D31-0C7D-4AC2-A0BC-CA4DF2EE907D}"/>
              </a:ext>
            </a:extLst>
          </p:cNvPr>
          <p:cNvSpPr>
            <a:spLocks xmlns:a="http://schemas.openxmlformats.org/drawingml/2006/main" noGrp="1"/>
          </p:cNvSpPr>
          <p:nvPr/>
        </p:nvSpPr>
        <p:spPr>
          <a:xfrm xmlns:a="http://schemas.openxmlformats.org/drawingml/2006/main">
            <a:off x="685800" y="1952625"/>
            <a:ext cx="108204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7200" b="1">
                <a:solidFill>
                  <a:srgbClr val="F4F3EB"/>
                </a:solidFill>
                <a:latin typeface="Helvetica Neue"/>
                <a:ea typeface="Helvetica Neue"/>
                <a:cs typeface="Helvetica Neue"/>
              </a:defRPr>
            </a:pPr>
            <a:r>
              <a:rPr sz="7200" b="1">
                <a:solidFill>
                  <a:srgbClr val="F4F3EB"/>
                </a:solidFill>
                <a:latin typeface="Helvetica Neue"/>
                <a:ea typeface="Helvetica Neue"/>
                <a:cs typeface="Helvetica Neue"/>
              </a:rPr>
              <a:t>NurseBridge</a:t>
            </a:r>
          </a:p>
        </p:txBody>
      </p:sp>
      <p:sp>
        <p:nvSpPr>
          <p:cNvPr id="2" name="">
            <a:extLst xmlns:a="http://schemas.openxmlformats.org/drawingml/2006/main">
              <a:ext uri="{FF2B5EF4-FFF2-40B4-BE49-F238E27FC236}">
                <a16:creationId xmlns:a16="http://schemas.microsoft.com/office/drawing/2014/main" id="{D3708586-BF90-42CB-840D-F5E3967D64A6}"/>
              </a:ext>
            </a:extLst>
          </p:cNvPr>
          <p:cNvSpPr>
            <a:spLocks xmlns:a="http://schemas.openxmlformats.org/drawingml/2006/main" noGrp="1"/>
          </p:cNvSpPr>
          <p:nvPr/>
        </p:nvSpPr>
        <p:spPr>
          <a:xfrm xmlns:a="http://schemas.openxmlformats.org/drawingml/2006/main">
            <a:off x="723900" y="3333750"/>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50" b="0">
                <a:solidFill>
                  <a:srgbClr val="D8EBDD"/>
                </a:solidFill>
                <a:latin typeface="Helvetica Neue"/>
                <a:ea typeface="Helvetica Neue"/>
                <a:cs typeface="Helvetica Neue"/>
              </a:defRPr>
            </a:pPr>
            <a:r>
              <a:rPr sz="2850" b="0">
                <a:solidFill>
                  <a:srgbClr val="D8EBDD"/>
                </a:solidFill>
                <a:latin typeface="Helvetica Neue"/>
                <a:ea typeface="Helvetica Neue"/>
                <a:cs typeface="Helvetica Neue"/>
              </a:rPr>
              <a:t>Voice intake with context for the nurse</a:t>
            </a:r>
          </a:p>
        </p:txBody>
      </p:sp>
      <p:sp>
        <p:nvSpPr>
          <p:cNvPr id="3" name="">
            <a:extLst xmlns:a="http://schemas.openxmlformats.org/drawingml/2006/main">
              <a:ext uri="{FF2B5EF4-FFF2-40B4-BE49-F238E27FC236}">
                <a16:creationId xmlns:a16="http://schemas.microsoft.com/office/drawing/2014/main" id="{2280DE20-04D9-4D27-8755-4DD6FBE77094}"/>
              </a:ext>
            </a:extLst>
          </p:cNvPr>
          <p:cNvSpPr>
            <a:spLocks xmlns:a="http://schemas.openxmlformats.org/drawingml/2006/main" noGrp="1"/>
          </p:cNvSpPr>
          <p:nvPr/>
        </p:nvSpPr>
        <p:spPr>
          <a:xfrm xmlns:a="http://schemas.openxmlformats.org/drawingml/2006/main">
            <a:off x="723900" y="528637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F4F3EB"/>
                </a:solidFill>
                <a:latin typeface="Helvetica Neue"/>
                <a:ea typeface="Helvetica Neue"/>
                <a:cs typeface="Helvetica Neue"/>
              </a:defRPr>
            </a:pPr>
            <a:r>
              <a:rPr sz="1800" b="0">
                <a:solidFill>
                  <a:srgbClr val="F4F3EB"/>
                </a:solidFill>
                <a:latin typeface="Helvetica Neue"/>
                <a:ea typeface="Helvetica Neue"/>
                <a:cs typeface="Helvetica Neue"/>
              </a:rPr>
              <a:t>AssemblyAI Voice Agent Hackathon</a:t>
            </a:r>
          </a:p>
        </p:txBody>
      </p:sp>
      <p:sp>
        <p:nvSpPr>
          <p:cNvPr id="4" name="">
            <a:extLst xmlns:a="http://schemas.openxmlformats.org/drawingml/2006/main">
              <a:ext uri="{FF2B5EF4-FFF2-40B4-BE49-F238E27FC236}">
                <a16:creationId xmlns:a16="http://schemas.microsoft.com/office/drawing/2014/main" id="{12E51EAB-7BF3-4DE6-89FF-7D83A28926B5}"/>
              </a:ext>
            </a:extLst>
          </p:cNvPr>
          <p:cNvSpPr>
            <a:spLocks xmlns:a="http://schemas.openxmlformats.org/drawingml/2006/main" noGrp="1"/>
          </p:cNvSpPr>
          <p:nvPr/>
        </p:nvSpPr>
        <p:spPr>
          <a:xfrm xmlns:a="http://schemas.openxmlformats.org/drawingml/2006/main">
            <a:off x="723900" y="575310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D8EBDD"/>
                </a:solidFill>
                <a:latin typeface="Helvetica Neue"/>
                <a:ea typeface="Helvetica Neue"/>
                <a:cs typeface="Helvetica Neue"/>
              </a:defRPr>
            </a:pPr>
            <a:r>
              <a:rPr sz="1500" b="0">
                <a:solidFill>
                  <a:srgbClr val="D8EBDD"/>
                </a:solidFill>
                <a:latin typeface="Helvetica Neue"/>
                <a:ea typeface="Helvetica Neue"/>
                <a:cs typeface="Helvetica Neue"/>
              </a:rPr>
              <a:t>Simulation only. Fictional information. Not for medical care.</a:t>
            </a:r>
          </a:p>
        </p:txBody>
      </p:sp>
    </p:spTree>
    <p:extLst>
      <p:ext uri="{BB962C8B-B14F-4D97-AF65-F5344CB8AC3E}">
        <p14:creationId xmlns:p14="http://schemas.microsoft.com/office/powerpoint/2010/main" val="887779327"/>
      </p:ext>
    </p:extLst>
  </p:cSld>
</p:sld>
</file>

<file path=ppt/slides/slide2.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A09918-5687-43F8-A0FD-C72815D738D2}"/>
              </a:ext>
            </a:extLst>
          </p:cNvPr>
          <p:cNvSpPr>
            <a:spLocks xmlns:a="http://schemas.openxmlformats.org/drawingml/2006/main" noGrp="1"/>
          </p:cNvSpPr>
          <p:nvPr/>
        </p:nvSpPr>
        <p:spPr>
          <a:xfrm xmlns:a="http://schemas.openxmlformats.org/drawingml/2006/main">
            <a:off x="685800" y="5238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C3939"/>
                </a:solidFill>
                <a:latin typeface="Helvetica Neue"/>
                <a:ea typeface="Helvetica Neue"/>
                <a:cs typeface="Helvetica Neue"/>
              </a:defRPr>
            </a:pPr>
            <a:r>
              <a:rPr sz="3450" b="1">
                <a:solidFill>
                  <a:srgbClr val="1C3939"/>
                </a:solidFill>
                <a:latin typeface="Helvetica Neue"/>
                <a:ea typeface="Helvetica Neue"/>
                <a:cs typeface="Helvetica Neue"/>
              </a:rPr>
              <a:t>The intake handoff</a:t>
            </a:r>
          </a:p>
        </p:txBody>
      </p:sp>
      <p:sp>
        <p:nvSpPr>
          <p:cNvPr id="2" name="">
            <a:extLst xmlns:a="http://schemas.openxmlformats.org/drawingml/2006/main">
              <a:ext uri="{FF2B5EF4-FFF2-40B4-BE49-F238E27FC236}">
                <a16:creationId xmlns:a16="http://schemas.microsoft.com/office/drawing/2014/main" id="{E937FF39-D4C8-4B09-9111-C772DE56D36B}"/>
              </a:ext>
            </a:extLst>
          </p:cNvPr>
          <p:cNvSpPr>
            <a:spLocks xmlns:a="http://schemas.openxmlformats.org/drawingml/2006/main" noGrp="1"/>
          </p:cNvSpPr>
          <p:nvPr/>
        </p:nvSpPr>
        <p:spPr>
          <a:xfrm xmlns:a="http://schemas.openxmlformats.org/drawingml/2006/main">
            <a:off x="685800" y="1676400"/>
            <a:ext cx="5810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625" b="1">
                <a:solidFill>
                  <a:srgbClr val="1C3939"/>
                </a:solidFill>
                <a:latin typeface="Helvetica Neue"/>
                <a:ea typeface="Helvetica Neue"/>
                <a:cs typeface="Helvetica Neue"/>
              </a:defRPr>
            </a:pPr>
            <a:r>
              <a:rPr sz="2625" b="1">
                <a:solidFill>
                  <a:srgbClr val="1C3939"/>
                </a:solidFill>
                <a:latin typeface="Helvetica Neue"/>
                <a:ea typeface="Helvetica Neue"/>
                <a:cs typeface="Helvetica Neue"/>
              </a:rPr>
              <a:t>A caller has a story.</a:t>
            </a:r>
          </a:p>
          <a:p xmlns:a="http://schemas.openxmlformats.org/drawingml/2006/main">
            <a:pPr>
              <a:buNone/>
              <a:defRPr sz="2625" b="1">
                <a:solidFill>
                  <a:srgbClr val="1C3939"/>
                </a:solidFill>
                <a:latin typeface="Helvetica Neue"/>
                <a:ea typeface="Helvetica Neue"/>
                <a:cs typeface="Helvetica Neue"/>
              </a:defRPr>
            </a:pPr>
            <a:r>
              <a:rPr sz="2625" b="1">
                <a:solidFill>
                  <a:srgbClr val="1C3939"/>
                </a:solidFill>
                <a:latin typeface="Helvetica Neue"/>
                <a:ea typeface="Helvetica Neue"/>
                <a:cs typeface="Helvetica Neue"/>
              </a:rPr>
              <a:t>The nurse needs usable context.</a:t>
            </a:r>
          </a:p>
        </p:txBody>
      </p:sp>
      <p:sp>
        <p:nvSpPr>
          <p:cNvPr id="3" name="">
            <a:extLst xmlns:a="http://schemas.openxmlformats.org/drawingml/2006/main">
              <a:ext uri="{FF2B5EF4-FFF2-40B4-BE49-F238E27FC236}">
                <a16:creationId xmlns:a16="http://schemas.microsoft.com/office/drawing/2014/main" id="{FE40202B-4E6E-4E38-B9CE-4DDDBA8FF4EE}"/>
              </a:ext>
            </a:extLst>
          </p:cNvPr>
          <p:cNvSpPr>
            <a:spLocks xmlns:a="http://schemas.openxmlformats.org/drawingml/2006/main" noGrp="1"/>
          </p:cNvSpPr>
          <p:nvPr/>
        </p:nvSpPr>
        <p:spPr>
          <a:xfrm xmlns:a="http://schemas.openxmlformats.org/drawingml/2006/main">
            <a:off x="685800" y="3067050"/>
            <a:ext cx="5429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C3939"/>
                </a:solidFill>
                <a:latin typeface="Helvetica Neue"/>
                <a:ea typeface="Helvetica Neue"/>
                <a:cs typeface="Helvetica Neue"/>
              </a:defRPr>
            </a:pPr>
            <a:r>
              <a:rPr sz="2100" b="0">
                <a:solidFill>
                  <a:srgbClr val="1C3939"/>
                </a:solidFill>
                <a:latin typeface="Helvetica Neue"/>
                <a:ea typeface="Helvetica Neue"/>
                <a:cs typeface="Helvetica Neue"/>
              </a:rPr>
              <a:t>Details can change during a conversation. A useful intake draft needs to retain corrections and uncertainty.</a:t>
            </a:r>
          </a:p>
        </p:txBody>
      </p:sp>
      <p:sp>
        <p:nvSpPr>
          <p:cNvPr id="4" name="">
            <a:extLst xmlns:a="http://schemas.openxmlformats.org/drawingml/2006/main">
              <a:ext uri="{FF2B5EF4-FFF2-40B4-BE49-F238E27FC236}">
                <a16:creationId xmlns:a16="http://schemas.microsoft.com/office/drawing/2014/main" id="{1AB636A2-3830-46ED-84E1-F7203B830545}"/>
              </a:ext>
            </a:extLst>
          </p:cNvPr>
          <p:cNvSpPr>
            <a:spLocks xmlns:a="http://schemas.openxmlformats.org/drawingml/2006/main" noGrp="1"/>
          </p:cNvSpPr>
          <p:nvPr/>
        </p:nvSpPr>
        <p:spPr>
          <a:xfrm xmlns:a="http://schemas.openxmlformats.org/drawingml/2006/main">
            <a:off x="685800" y="4619625"/>
            <a:ext cx="542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27873"/>
                </a:solidFill>
                <a:latin typeface="Helvetica Neue"/>
                <a:ea typeface="Helvetica Neue"/>
                <a:cs typeface="Helvetica Neue"/>
              </a:defRPr>
            </a:pPr>
            <a:r>
              <a:rPr sz="2100" b="0">
                <a:solidFill>
                  <a:srgbClr val="127873"/>
                </a:solidFill>
                <a:latin typeface="Helvetica Neue"/>
                <a:ea typeface="Helvetica Neue"/>
                <a:cs typeface="Helvetica Neue"/>
              </a:rPr>
              <a:t>NurseBridge explores collecting that context while the caller waits for a nurse.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4801f1d3ac54dfd"/>
          <a:srcRect xmlns:a="http://schemas.openxmlformats.org/drawingml/2006/main" l="21736" t="18687" r="36528" b="32179"/>
          <a:stretch xmlns:a="http://schemas.openxmlformats.org/drawingml/2006/main">
            <a:fillRect l="0" t="0" r="0" b="0"/>
          </a:stretch>
        </p:blipFill>
        <p:spPr>
          <a:xfrm xmlns:a="http://schemas.openxmlformats.org/drawingml/2006/main">
            <a:off x="6953250" y="1504950"/>
            <a:ext cx="3857625" cy="43719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D94B34C-2127-4C71-9729-3DBFEAF091EC}"/>
              </a:ext>
            </a:extLst>
          </p:cNvPr>
          <p:cNvSpPr>
            <a:spLocks xmlns:a="http://schemas.openxmlformats.org/drawingml/2006/main" noGrp="1"/>
          </p:cNvSpPr>
          <p:nvPr/>
        </p:nvSpPr>
        <p:spPr>
          <a:xfrm xmlns:a="http://schemas.openxmlformats.org/drawingml/2006/main">
            <a:off x="6962775" y="6010275"/>
            <a:ext cx="3848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526967"/>
                </a:solidFill>
                <a:latin typeface="Helvetica Neue"/>
                <a:ea typeface="Helvetica Neue"/>
                <a:cs typeface="Helvetica Neue"/>
              </a:defRPr>
            </a:pPr>
            <a:r>
              <a:rPr sz="1350" b="0">
                <a:solidFill>
                  <a:srgbClr val="526967"/>
                </a:solidFill>
                <a:latin typeface="Helvetica Neue"/>
                <a:ea typeface="Helvetica Neue"/>
                <a:cs typeface="Helvetica Neue"/>
              </a:rPr>
              <a:t>Mock replay interface</a:t>
            </a:r>
          </a:p>
        </p:txBody>
      </p:sp>
      <p:sp>
        <p:nvSpPr>
          <p:cNvPr id="7" name="">
            <a:extLst xmlns:a="http://schemas.openxmlformats.org/drawingml/2006/main">
              <a:ext uri="{FF2B5EF4-FFF2-40B4-BE49-F238E27FC236}">
                <a16:creationId xmlns:a16="http://schemas.microsoft.com/office/drawing/2014/main" id="{778F2908-C792-433A-B5AF-67392FF71642}"/>
              </a:ext>
            </a:extLst>
          </p:cNvPr>
          <p:cNvSpPr>
            <a:spLocks xmlns:a="http://schemas.openxmlformats.org/drawingml/2006/main" noGrp="1"/>
          </p:cNvSpPr>
          <p:nvPr/>
        </p:nvSpPr>
        <p:spPr>
          <a:xfrm xmlns:a="http://schemas.openxmlformats.org/drawingml/2006/main">
            <a:off x="1104900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526967"/>
                </a:solidFill>
                <a:latin typeface="Helvetica Neue"/>
                <a:ea typeface="Helvetica Neue"/>
                <a:cs typeface="Helvetica Neue"/>
              </a:defRPr>
            </a:pPr>
            <a:r>
              <a:rPr sz="1350" b="0">
                <a:solidFill>
                  <a:srgbClr val="526967"/>
                </a:solidFill>
                <a:latin typeface="Helvetica Neue"/>
                <a:ea typeface="Helvetica Neue"/>
                <a:cs typeface="Helvetica Neue"/>
              </a:rPr>
              <a:t>02</a:t>
            </a:r>
          </a:p>
        </p:txBody>
      </p:sp>
    </p:spTree>
    <p:extLst>
      <p:ext uri="{BB962C8B-B14F-4D97-AF65-F5344CB8AC3E}">
        <p14:creationId xmlns:p14="http://schemas.microsoft.com/office/powerpoint/2010/main" val="868009982"/>
      </p:ext>
    </p:extLst>
  </p:cSld>
</p:sld>
</file>

<file path=ppt/slides/slide3.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687BCBC-019A-4257-8AC9-E41B67976C18}"/>
              </a:ext>
            </a:extLst>
          </p:cNvPr>
          <p:cNvSpPr>
            <a:spLocks xmlns:a="http://schemas.openxmlformats.org/drawingml/2006/main" noGrp="1"/>
          </p:cNvSpPr>
          <p:nvPr/>
        </p:nvSpPr>
        <p:spPr>
          <a:xfrm xmlns:a="http://schemas.openxmlformats.org/drawingml/2006/main">
            <a:off x="685800" y="5238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C3939"/>
                </a:solidFill>
                <a:latin typeface="Helvetica Neue"/>
                <a:ea typeface="Helvetica Neue"/>
                <a:cs typeface="Helvetica Neue"/>
              </a:defRPr>
            </a:pPr>
            <a:r>
              <a:rPr sz="3450" b="1">
                <a:solidFill>
                  <a:srgbClr val="1C3939"/>
                </a:solidFill>
                <a:latin typeface="Helvetica Neue"/>
                <a:ea typeface="Helvetica Neue"/>
                <a:cs typeface="Helvetica Neue"/>
              </a:rPr>
              <a:t>Caller to nurse</a:t>
            </a:r>
          </a:p>
        </p:txBody>
      </p:sp>
      <p:sp>
        <p:nvSpPr>
          <p:cNvPr id="2" name="">
            <a:extLst xmlns:a="http://schemas.openxmlformats.org/drawingml/2006/main">
              <a:ext uri="{FF2B5EF4-FFF2-40B4-BE49-F238E27FC236}">
                <a16:creationId xmlns:a16="http://schemas.microsoft.com/office/drawing/2014/main" id="{38795E58-98AF-4438-AEEC-5CAF9371B29C}"/>
              </a:ext>
            </a:extLst>
          </p:cNvPr>
          <p:cNvSpPr>
            <a:spLocks xmlns:a="http://schemas.openxmlformats.org/drawingml/2006/main" noGrp="1"/>
          </p:cNvSpPr>
          <p:nvPr/>
        </p:nvSpPr>
        <p:spPr>
          <a:xfrm xmlns:a="http://schemas.openxmlformats.org/drawingml/2006/main">
            <a:off x="685800" y="1657350"/>
            <a:ext cx="419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127873"/>
                </a:solidFill>
                <a:latin typeface="Helvetica Neue"/>
                <a:ea typeface="Helvetica Neue"/>
                <a:cs typeface="Helvetica Neue"/>
              </a:defRPr>
            </a:pPr>
            <a:r>
              <a:rPr sz="2550" b="1">
                <a:solidFill>
                  <a:srgbClr val="127873"/>
                </a:solidFill>
                <a:latin typeface="Helvetica Neue"/>
                <a:ea typeface="Helvetica Neue"/>
                <a:cs typeface="Helvetica Neue"/>
              </a:rPr>
              <a:t>1</a:t>
            </a:r>
          </a:p>
        </p:txBody>
      </p:sp>
      <p:sp>
        <p:nvSpPr>
          <p:cNvPr id="3" name="">
            <a:extLst xmlns:a="http://schemas.openxmlformats.org/drawingml/2006/main">
              <a:ext uri="{FF2B5EF4-FFF2-40B4-BE49-F238E27FC236}">
                <a16:creationId xmlns:a16="http://schemas.microsoft.com/office/drawing/2014/main" id="{4378F447-7F0D-487C-969D-5D3C2597774E}"/>
              </a:ext>
            </a:extLst>
          </p:cNvPr>
          <p:cNvSpPr>
            <a:spLocks xmlns:a="http://schemas.openxmlformats.org/drawingml/2006/main" noGrp="1"/>
          </p:cNvSpPr>
          <p:nvPr/>
        </p:nvSpPr>
        <p:spPr>
          <a:xfrm xmlns:a="http://schemas.openxmlformats.org/drawingml/2006/main">
            <a:off x="1228725" y="165735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1C3939"/>
                </a:solidFill>
                <a:latin typeface="Helvetica Neue"/>
                <a:ea typeface="Helvetica Neue"/>
                <a:cs typeface="Helvetica Neue"/>
              </a:defRPr>
            </a:pPr>
            <a:r>
              <a:rPr sz="2100" b="1">
                <a:solidFill>
                  <a:srgbClr val="1C3939"/>
                </a:solidFill>
                <a:latin typeface="Helvetica Neue"/>
                <a:ea typeface="Helvetica Neue"/>
                <a:cs typeface="Helvetica Neue"/>
              </a:rPr>
              <a:t>Join the queue</a:t>
            </a:r>
          </a:p>
        </p:txBody>
      </p:sp>
      <p:sp>
        <p:nvSpPr>
          <p:cNvPr id="4" name="">
            <a:extLst xmlns:a="http://schemas.openxmlformats.org/drawingml/2006/main">
              <a:ext uri="{FF2B5EF4-FFF2-40B4-BE49-F238E27FC236}">
                <a16:creationId xmlns:a16="http://schemas.microsoft.com/office/drawing/2014/main" id="{71A7F502-0413-4904-9972-74C7784A77E8}"/>
              </a:ext>
            </a:extLst>
          </p:cNvPr>
          <p:cNvSpPr>
            <a:spLocks xmlns:a="http://schemas.openxmlformats.org/drawingml/2006/main" noGrp="1"/>
          </p:cNvSpPr>
          <p:nvPr/>
        </p:nvSpPr>
        <p:spPr>
          <a:xfrm xmlns:a="http://schemas.openxmlformats.org/drawingml/2006/main">
            <a:off x="1228725" y="2076450"/>
            <a:ext cx="361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526967"/>
                </a:solidFill>
                <a:latin typeface="Helvetica Neue"/>
                <a:ea typeface="Helvetica Neue"/>
                <a:cs typeface="Helvetica Neue"/>
              </a:defRPr>
            </a:pPr>
            <a:r>
              <a:rPr sz="1650" b="0">
                <a:solidFill>
                  <a:srgbClr val="526967"/>
                </a:solidFill>
                <a:latin typeface="Helvetica Neue"/>
                <a:ea typeface="Helvetica Neue"/>
                <a:cs typeface="Helvetica Neue"/>
              </a:rPr>
              <a:t>Human access remains available.</a:t>
            </a:r>
          </a:p>
        </p:txBody>
      </p:sp>
      <p:sp>
        <p:nvSpPr>
          <p:cNvPr id="5" name="">
            <a:extLst xmlns:a="http://schemas.openxmlformats.org/drawingml/2006/main">
              <a:ext uri="{FF2B5EF4-FFF2-40B4-BE49-F238E27FC236}">
                <a16:creationId xmlns:a16="http://schemas.microsoft.com/office/drawing/2014/main" id="{88C73010-7667-43B0-9EE5-89975CA975E2}"/>
              </a:ext>
            </a:extLst>
          </p:cNvPr>
          <p:cNvSpPr>
            <a:spLocks xmlns:a="http://schemas.openxmlformats.org/drawingml/2006/main" noGrp="1"/>
          </p:cNvSpPr>
          <p:nvPr/>
        </p:nvSpPr>
        <p:spPr>
          <a:xfrm xmlns:a="http://schemas.openxmlformats.org/drawingml/2006/main">
            <a:off x="685800" y="2647950"/>
            <a:ext cx="419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127873"/>
                </a:solidFill>
                <a:latin typeface="Helvetica Neue"/>
                <a:ea typeface="Helvetica Neue"/>
                <a:cs typeface="Helvetica Neue"/>
              </a:defRPr>
            </a:pPr>
            <a:r>
              <a:rPr sz="2550" b="1">
                <a:solidFill>
                  <a:srgbClr val="127873"/>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34984409-2F19-4C26-8F84-8EB640BCFD71}"/>
              </a:ext>
            </a:extLst>
          </p:cNvPr>
          <p:cNvSpPr>
            <a:spLocks xmlns:a="http://schemas.openxmlformats.org/drawingml/2006/main" noGrp="1"/>
          </p:cNvSpPr>
          <p:nvPr/>
        </p:nvSpPr>
        <p:spPr>
          <a:xfrm xmlns:a="http://schemas.openxmlformats.org/drawingml/2006/main">
            <a:off x="1228725" y="264795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1C3939"/>
                </a:solidFill>
                <a:latin typeface="Helvetica Neue"/>
                <a:ea typeface="Helvetica Neue"/>
                <a:cs typeface="Helvetica Neue"/>
              </a:defRPr>
            </a:pPr>
            <a:r>
              <a:rPr sz="2100" b="1">
                <a:solidFill>
                  <a:srgbClr val="1C3939"/>
                </a:solidFill>
                <a:latin typeface="Helvetica Neue"/>
                <a:ea typeface="Helvetica Neue"/>
                <a:cs typeface="Helvetica Neue"/>
              </a:rPr>
              <a:t>Share a fictional story</a:t>
            </a:r>
          </a:p>
        </p:txBody>
      </p:sp>
      <p:sp>
        <p:nvSpPr>
          <p:cNvPr id="7" name="">
            <a:extLst xmlns:a="http://schemas.openxmlformats.org/drawingml/2006/main">
              <a:ext uri="{FF2B5EF4-FFF2-40B4-BE49-F238E27FC236}">
                <a16:creationId xmlns:a16="http://schemas.microsoft.com/office/drawing/2014/main" id="{A6F474E1-A506-46E6-B8DD-CA282A77FE35}"/>
              </a:ext>
            </a:extLst>
          </p:cNvPr>
          <p:cNvSpPr>
            <a:spLocks xmlns:a="http://schemas.openxmlformats.org/drawingml/2006/main" noGrp="1"/>
          </p:cNvSpPr>
          <p:nvPr/>
        </p:nvSpPr>
        <p:spPr>
          <a:xfrm xmlns:a="http://schemas.openxmlformats.org/drawingml/2006/main">
            <a:off x="1228725" y="3067050"/>
            <a:ext cx="361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526967"/>
                </a:solidFill>
                <a:latin typeface="Helvetica Neue"/>
                <a:ea typeface="Helvetica Neue"/>
                <a:cs typeface="Helvetica Neue"/>
              </a:defRPr>
            </a:pPr>
            <a:r>
              <a:rPr sz="1650" b="0">
                <a:solidFill>
                  <a:srgbClr val="526967"/>
                </a:solidFill>
                <a:latin typeface="Helvetica Neue"/>
                <a:ea typeface="Helvetica Neue"/>
                <a:cs typeface="Helvetica Neue"/>
              </a:rPr>
              <a:t>The assistant collects intake details.</a:t>
            </a:r>
          </a:p>
        </p:txBody>
      </p:sp>
      <p:sp>
        <p:nvSpPr>
          <p:cNvPr id="8" name="">
            <a:extLst xmlns:a="http://schemas.openxmlformats.org/drawingml/2006/main">
              <a:ext uri="{FF2B5EF4-FFF2-40B4-BE49-F238E27FC236}">
                <a16:creationId xmlns:a16="http://schemas.microsoft.com/office/drawing/2014/main" id="{BC2EC123-1EAF-4FB6-8F43-468742D01B1B}"/>
              </a:ext>
            </a:extLst>
          </p:cNvPr>
          <p:cNvSpPr>
            <a:spLocks xmlns:a="http://schemas.openxmlformats.org/drawingml/2006/main" noGrp="1"/>
          </p:cNvSpPr>
          <p:nvPr/>
        </p:nvSpPr>
        <p:spPr>
          <a:xfrm xmlns:a="http://schemas.openxmlformats.org/drawingml/2006/main">
            <a:off x="685800" y="3638550"/>
            <a:ext cx="419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127873"/>
                </a:solidFill>
                <a:latin typeface="Helvetica Neue"/>
                <a:ea typeface="Helvetica Neue"/>
                <a:cs typeface="Helvetica Neue"/>
              </a:defRPr>
            </a:pPr>
            <a:r>
              <a:rPr sz="2550" b="1">
                <a:solidFill>
                  <a:srgbClr val="127873"/>
                </a:solidFill>
                <a:latin typeface="Helvetica Neue"/>
                <a:ea typeface="Helvetica Neue"/>
                <a:cs typeface="Helvetica Neue"/>
              </a:rPr>
              <a:t>3</a:t>
            </a:r>
          </a:p>
        </p:txBody>
      </p:sp>
      <p:sp>
        <p:nvSpPr>
          <p:cNvPr id="9" name="">
            <a:extLst xmlns:a="http://schemas.openxmlformats.org/drawingml/2006/main">
              <a:ext uri="{FF2B5EF4-FFF2-40B4-BE49-F238E27FC236}">
                <a16:creationId xmlns:a16="http://schemas.microsoft.com/office/drawing/2014/main" id="{0DFE5682-CE19-4175-BD5D-875370DB5474}"/>
              </a:ext>
            </a:extLst>
          </p:cNvPr>
          <p:cNvSpPr>
            <a:spLocks xmlns:a="http://schemas.openxmlformats.org/drawingml/2006/main" noGrp="1"/>
          </p:cNvSpPr>
          <p:nvPr/>
        </p:nvSpPr>
        <p:spPr>
          <a:xfrm xmlns:a="http://schemas.openxmlformats.org/drawingml/2006/main">
            <a:off x="1228725" y="363855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1C3939"/>
                </a:solidFill>
                <a:latin typeface="Helvetica Neue"/>
                <a:ea typeface="Helvetica Neue"/>
                <a:cs typeface="Helvetica Neue"/>
              </a:defRPr>
            </a:pPr>
            <a:r>
              <a:rPr sz="2100" b="1">
                <a:solidFill>
                  <a:srgbClr val="1C3939"/>
                </a:solidFill>
                <a:latin typeface="Helvetica Neue"/>
                <a:ea typeface="Helvetica Neue"/>
                <a:cs typeface="Helvetica Neue"/>
              </a:rPr>
              <a:t>Review the draft</a:t>
            </a:r>
          </a:p>
        </p:txBody>
      </p:sp>
      <p:sp>
        <p:nvSpPr>
          <p:cNvPr id="10" name="">
            <a:extLst xmlns:a="http://schemas.openxmlformats.org/drawingml/2006/main">
              <a:ext uri="{FF2B5EF4-FFF2-40B4-BE49-F238E27FC236}">
                <a16:creationId xmlns:a16="http://schemas.microsoft.com/office/drawing/2014/main" id="{2719E584-2790-459C-ADF6-2EDC56EA2F11}"/>
              </a:ext>
            </a:extLst>
          </p:cNvPr>
          <p:cNvSpPr>
            <a:spLocks xmlns:a="http://schemas.openxmlformats.org/drawingml/2006/main" noGrp="1"/>
          </p:cNvSpPr>
          <p:nvPr/>
        </p:nvSpPr>
        <p:spPr>
          <a:xfrm xmlns:a="http://schemas.openxmlformats.org/drawingml/2006/main">
            <a:off x="1228725" y="4057650"/>
            <a:ext cx="361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526967"/>
                </a:solidFill>
                <a:latin typeface="Helvetica Neue"/>
                <a:ea typeface="Helvetica Neue"/>
                <a:cs typeface="Helvetica Neue"/>
              </a:defRPr>
            </a:pPr>
            <a:r>
              <a:rPr sz="1650" b="0">
                <a:solidFill>
                  <a:srgbClr val="526967"/>
                </a:solidFill>
                <a:latin typeface="Helvetica Neue"/>
                <a:ea typeface="Helvetica Neue"/>
                <a:cs typeface="Helvetica Neue"/>
              </a:rPr>
              <a:t>A nurse can inspect source words.</a:t>
            </a:r>
          </a:p>
        </p:txBody>
      </p:sp>
      <p:sp>
        <p:nvSpPr>
          <p:cNvPr id="11" name="">
            <a:extLst xmlns:a="http://schemas.openxmlformats.org/drawingml/2006/main">
              <a:ext uri="{FF2B5EF4-FFF2-40B4-BE49-F238E27FC236}">
                <a16:creationId xmlns:a16="http://schemas.microsoft.com/office/drawing/2014/main" id="{D7308C6C-44FE-42D1-9FD7-9FE67F7E8F42}"/>
              </a:ext>
            </a:extLst>
          </p:cNvPr>
          <p:cNvSpPr>
            <a:spLocks xmlns:a="http://schemas.openxmlformats.org/drawingml/2006/main" noGrp="1"/>
          </p:cNvSpPr>
          <p:nvPr/>
        </p:nvSpPr>
        <p:spPr>
          <a:xfrm xmlns:a="http://schemas.openxmlformats.org/drawingml/2006/main">
            <a:off x="685800" y="4629150"/>
            <a:ext cx="419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127873"/>
                </a:solidFill>
                <a:latin typeface="Helvetica Neue"/>
                <a:ea typeface="Helvetica Neue"/>
                <a:cs typeface="Helvetica Neue"/>
              </a:defRPr>
            </a:pPr>
            <a:r>
              <a:rPr sz="2550" b="1">
                <a:solidFill>
                  <a:srgbClr val="127873"/>
                </a:solidFill>
                <a:latin typeface="Helvetica Neue"/>
                <a:ea typeface="Helvetica Neue"/>
                <a:cs typeface="Helvetica Neue"/>
              </a:rPr>
              <a:t>4</a:t>
            </a:r>
          </a:p>
        </p:txBody>
      </p:sp>
      <p:sp>
        <p:nvSpPr>
          <p:cNvPr id="12" name="">
            <a:extLst xmlns:a="http://schemas.openxmlformats.org/drawingml/2006/main">
              <a:ext uri="{FF2B5EF4-FFF2-40B4-BE49-F238E27FC236}">
                <a16:creationId xmlns:a16="http://schemas.microsoft.com/office/drawing/2014/main" id="{4B9E59C2-A14C-4535-B8E8-0D01DB7A9D74}"/>
              </a:ext>
            </a:extLst>
          </p:cNvPr>
          <p:cNvSpPr>
            <a:spLocks xmlns:a="http://schemas.openxmlformats.org/drawingml/2006/main" noGrp="1"/>
          </p:cNvSpPr>
          <p:nvPr/>
        </p:nvSpPr>
        <p:spPr>
          <a:xfrm xmlns:a="http://schemas.openxmlformats.org/drawingml/2006/main">
            <a:off x="1228725" y="462915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1C3939"/>
                </a:solidFill>
                <a:latin typeface="Helvetica Neue"/>
                <a:ea typeface="Helvetica Neue"/>
                <a:cs typeface="Helvetica Neue"/>
              </a:defRPr>
            </a:pPr>
            <a:r>
              <a:rPr sz="2100" b="1">
                <a:solidFill>
                  <a:srgbClr val="1C3939"/>
                </a:solidFill>
                <a:latin typeface="Helvetica Neue"/>
                <a:ea typeface="Helvetica Neue"/>
                <a:cs typeface="Helvetica Neue"/>
              </a:rPr>
              <a:t>Take over the call</a:t>
            </a:r>
          </a:p>
        </p:txBody>
      </p:sp>
      <p:sp>
        <p:nvSpPr>
          <p:cNvPr id="13" name="">
            <a:extLst xmlns:a="http://schemas.openxmlformats.org/drawingml/2006/main">
              <a:ext uri="{FF2B5EF4-FFF2-40B4-BE49-F238E27FC236}">
                <a16:creationId xmlns:a16="http://schemas.microsoft.com/office/drawing/2014/main" id="{BC6DAE5E-8F26-47BC-B088-2AC5823DF7E6}"/>
              </a:ext>
            </a:extLst>
          </p:cNvPr>
          <p:cNvSpPr>
            <a:spLocks xmlns:a="http://schemas.openxmlformats.org/drawingml/2006/main" noGrp="1"/>
          </p:cNvSpPr>
          <p:nvPr/>
        </p:nvSpPr>
        <p:spPr>
          <a:xfrm xmlns:a="http://schemas.openxmlformats.org/drawingml/2006/main">
            <a:off x="1228725" y="5048250"/>
            <a:ext cx="361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526967"/>
                </a:solidFill>
                <a:latin typeface="Helvetica Neue"/>
                <a:ea typeface="Helvetica Neue"/>
                <a:cs typeface="Helvetica Neue"/>
              </a:defRPr>
            </a:pPr>
            <a:r>
              <a:rPr sz="1650" b="0">
                <a:solidFill>
                  <a:srgbClr val="526967"/>
                </a:solidFill>
                <a:latin typeface="Helvetica Neue"/>
                <a:ea typeface="Helvetica Neue"/>
                <a:cs typeface="Helvetica Neue"/>
              </a:rPr>
              <a:t>Automated forwarding stops.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bd2da7530bc4511"/>
          <a:srcRect xmlns:a="http://schemas.openxmlformats.org/drawingml/2006/main" l="25972" t="22783" r="25278" b="55953"/>
          <a:stretch xmlns:a="http://schemas.openxmlformats.org/drawingml/2006/main">
            <a:fillRect l="0" t="0" r="0" b="0"/>
          </a:stretch>
        </p:blipFill>
        <p:spPr>
          <a:xfrm xmlns:a="http://schemas.openxmlformats.org/drawingml/2006/main">
            <a:off x="5314950" y="1657350"/>
            <a:ext cx="6191250" cy="38290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6084D731-2944-4015-8DEF-1F6A5DD62521}"/>
              </a:ext>
            </a:extLst>
          </p:cNvPr>
          <p:cNvSpPr>
            <a:spLocks xmlns:a="http://schemas.openxmlformats.org/drawingml/2006/main" noGrp="1"/>
          </p:cNvSpPr>
          <p:nvPr/>
        </p:nvSpPr>
        <p:spPr>
          <a:xfrm xmlns:a="http://schemas.openxmlformats.org/drawingml/2006/main">
            <a:off x="5314950" y="5743575"/>
            <a:ext cx="619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526967"/>
                </a:solidFill>
                <a:latin typeface="Helvetica Neue"/>
                <a:ea typeface="Helvetica Neue"/>
                <a:cs typeface="Helvetica Neue"/>
              </a:defRPr>
            </a:pPr>
            <a:r>
              <a:rPr sz="1500" b="0">
                <a:solidFill>
                  <a:srgbClr val="526967"/>
                </a:solidFill>
                <a:latin typeface="Helvetica Neue"/>
                <a:ea typeface="Helvetica Neue"/>
                <a:cs typeface="Helvetica Neue"/>
              </a:rPr>
              <a:t>Fictional mock replay with browser human audio</a:t>
            </a:r>
          </a:p>
        </p:txBody>
      </p:sp>
      <p:sp>
        <p:nvSpPr>
          <p:cNvPr id="16" name="">
            <a:extLst xmlns:a="http://schemas.openxmlformats.org/drawingml/2006/main">
              <a:ext uri="{FF2B5EF4-FFF2-40B4-BE49-F238E27FC236}">
                <a16:creationId xmlns:a16="http://schemas.microsoft.com/office/drawing/2014/main" id="{06B00123-76F5-4111-B4B8-99CAD986FBBC}"/>
              </a:ext>
            </a:extLst>
          </p:cNvPr>
          <p:cNvSpPr>
            <a:spLocks xmlns:a="http://schemas.openxmlformats.org/drawingml/2006/main" noGrp="1"/>
          </p:cNvSpPr>
          <p:nvPr/>
        </p:nvSpPr>
        <p:spPr>
          <a:xfrm xmlns:a="http://schemas.openxmlformats.org/drawingml/2006/main">
            <a:off x="1104900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526967"/>
                </a:solidFill>
                <a:latin typeface="Helvetica Neue"/>
                <a:ea typeface="Helvetica Neue"/>
                <a:cs typeface="Helvetica Neue"/>
              </a:defRPr>
            </a:pPr>
            <a:r>
              <a:rPr sz="1350" b="0">
                <a:solidFill>
                  <a:srgbClr val="526967"/>
                </a:solidFill>
                <a:latin typeface="Helvetica Neue"/>
                <a:ea typeface="Helvetica Neue"/>
                <a:cs typeface="Helvetica Neue"/>
              </a:rPr>
              <a:t>03</a:t>
            </a:r>
          </a:p>
        </p:txBody>
      </p:sp>
    </p:spTree>
    <p:extLst>
      <p:ext uri="{BB962C8B-B14F-4D97-AF65-F5344CB8AC3E}">
        <p14:creationId xmlns:p14="http://schemas.microsoft.com/office/powerpoint/2010/main" val="1524910522"/>
      </p:ext>
    </p:extLst>
  </p:cSld>
</p:sld>
</file>

<file path=ppt/slides/slide4.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3D27FE-4FDB-4706-ACFC-567FD62C1466}"/>
              </a:ext>
            </a:extLst>
          </p:cNvPr>
          <p:cNvSpPr>
            <a:spLocks xmlns:a="http://schemas.openxmlformats.org/drawingml/2006/main" noGrp="1"/>
          </p:cNvSpPr>
          <p:nvPr/>
        </p:nvSpPr>
        <p:spPr>
          <a:xfrm xmlns:a="http://schemas.openxmlformats.org/drawingml/2006/main">
            <a:off x="685800" y="5238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C3939"/>
                </a:solidFill>
                <a:latin typeface="Helvetica Neue"/>
                <a:ea typeface="Helvetica Neue"/>
                <a:cs typeface="Helvetica Neue"/>
              </a:defRPr>
            </a:pPr>
            <a:r>
              <a:rPr sz="3450" b="1">
                <a:solidFill>
                  <a:srgbClr val="1C3939"/>
                </a:solidFill>
                <a:latin typeface="Helvetica Neue"/>
                <a:ea typeface="Helvetica Neue"/>
                <a:cs typeface="Helvetica Neue"/>
              </a:rPr>
              <a:t>Corrections retain source words</a:t>
            </a:r>
          </a:p>
        </p:txBody>
      </p:sp>
      <p:sp>
        <p:nvSpPr>
          <p:cNvPr id="2" name="">
            <a:extLst xmlns:a="http://schemas.openxmlformats.org/drawingml/2006/main">
              <a:ext uri="{FF2B5EF4-FFF2-40B4-BE49-F238E27FC236}">
                <a16:creationId xmlns:a16="http://schemas.microsoft.com/office/drawing/2014/main" id="{4AFAE4FD-6B86-402C-A89F-F42BD941658E}"/>
              </a:ext>
            </a:extLst>
          </p:cNvPr>
          <p:cNvSpPr>
            <a:spLocks xmlns:a="http://schemas.openxmlformats.org/drawingml/2006/main" noGrp="1"/>
          </p:cNvSpPr>
          <p:nvPr/>
        </p:nvSpPr>
        <p:spPr>
          <a:xfrm xmlns:a="http://schemas.openxmlformats.org/drawingml/2006/main">
            <a:off x="685800" y="1695450"/>
            <a:ext cx="34861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625" b="1">
                <a:solidFill>
                  <a:srgbClr val="127873"/>
                </a:solidFill>
                <a:latin typeface="Helvetica Neue"/>
                <a:ea typeface="Helvetica Neue"/>
                <a:cs typeface="Helvetica Neue"/>
              </a:defRPr>
            </a:pPr>
            <a:r>
              <a:rPr sz="2625" b="1">
                <a:solidFill>
                  <a:srgbClr val="127873"/>
                </a:solidFill>
                <a:latin typeface="Helvetica Neue"/>
                <a:ea typeface="Helvetica Neue"/>
                <a:cs typeface="Helvetica Neue"/>
              </a:rPr>
              <a:t>“The headache started this morning, not yesterday.”</a:t>
            </a:r>
          </a:p>
        </p:txBody>
      </p:sp>
      <p:sp>
        <p:nvSpPr>
          <p:cNvPr id="3" name="">
            <a:extLst xmlns:a="http://schemas.openxmlformats.org/drawingml/2006/main">
              <a:ext uri="{FF2B5EF4-FFF2-40B4-BE49-F238E27FC236}">
                <a16:creationId xmlns:a16="http://schemas.microsoft.com/office/drawing/2014/main" id="{1EE931C8-5043-42A6-8B5D-6F85A558A558}"/>
              </a:ext>
            </a:extLst>
          </p:cNvPr>
          <p:cNvSpPr>
            <a:spLocks xmlns:a="http://schemas.openxmlformats.org/drawingml/2006/main" noGrp="1"/>
          </p:cNvSpPr>
          <p:nvPr/>
        </p:nvSpPr>
        <p:spPr>
          <a:xfrm xmlns:a="http://schemas.openxmlformats.org/drawingml/2006/main">
            <a:off x="685800" y="3629025"/>
            <a:ext cx="34194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1C3939"/>
                </a:solidFill>
                <a:latin typeface="Helvetica Neue"/>
                <a:ea typeface="Helvetica Neue"/>
                <a:cs typeface="Helvetica Neue"/>
              </a:defRPr>
            </a:pPr>
            <a:r>
              <a:rPr sz="1950" b="0">
                <a:solidFill>
                  <a:srgbClr val="1C3939"/>
                </a:solidFill>
                <a:latin typeface="Helvetica Neue"/>
                <a:ea typeface="Helvetica Neue"/>
                <a:cs typeface="Helvetica Neue"/>
              </a:rPr>
              <a:t>The current draft changes. The original words and correction history remain available for review.</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1c644857b084ac5"/>
          <a:srcRect xmlns:a="http://schemas.openxmlformats.org/drawingml/2006/main" l="26111" t="17209" r="2083" b="50800"/>
          <a:stretch xmlns:a="http://schemas.openxmlformats.org/drawingml/2006/main">
            <a:fillRect l="0" t="0" r="0" b="0"/>
          </a:stretch>
        </p:blipFill>
        <p:spPr>
          <a:xfrm xmlns:a="http://schemas.openxmlformats.org/drawingml/2006/main">
            <a:off x="4476750" y="1666875"/>
            <a:ext cx="7029450" cy="3943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0422A9F-B566-4697-8D4B-9B13EEFC5C37}"/>
              </a:ext>
            </a:extLst>
          </p:cNvPr>
          <p:cNvSpPr>
            <a:spLocks xmlns:a="http://schemas.openxmlformats.org/drawingml/2006/main" noGrp="1"/>
          </p:cNvSpPr>
          <p:nvPr/>
        </p:nvSpPr>
        <p:spPr>
          <a:xfrm xmlns:a="http://schemas.openxmlformats.org/drawingml/2006/main">
            <a:off x="685800" y="5953125"/>
            <a:ext cx="1009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526967"/>
                </a:solidFill>
                <a:latin typeface="Helvetica Neue"/>
                <a:ea typeface="Helvetica Neue"/>
                <a:cs typeface="Helvetica Neue"/>
              </a:defRPr>
            </a:pPr>
            <a:r>
              <a:rPr sz="1725" b="0">
                <a:solidFill>
                  <a:srgbClr val="526967"/>
                </a:solidFill>
                <a:latin typeface="Helvetica Neue"/>
                <a:ea typeface="Helvetica Neue"/>
                <a:cs typeface="Helvetica Neue"/>
              </a:rPr>
              <a:t>Unmeasured and uncertain details remain explicit. The draft awaits nurse review.</a:t>
            </a:r>
          </a:p>
        </p:txBody>
      </p:sp>
      <p:sp>
        <p:nvSpPr>
          <p:cNvPr id="6" name="">
            <a:extLst xmlns:a="http://schemas.openxmlformats.org/drawingml/2006/main">
              <a:ext uri="{FF2B5EF4-FFF2-40B4-BE49-F238E27FC236}">
                <a16:creationId xmlns:a16="http://schemas.microsoft.com/office/drawing/2014/main" id="{6987E5AB-7B4E-426C-96C4-3F93A04B261D}"/>
              </a:ext>
            </a:extLst>
          </p:cNvPr>
          <p:cNvSpPr>
            <a:spLocks xmlns:a="http://schemas.openxmlformats.org/drawingml/2006/main" noGrp="1"/>
          </p:cNvSpPr>
          <p:nvPr/>
        </p:nvSpPr>
        <p:spPr>
          <a:xfrm xmlns:a="http://schemas.openxmlformats.org/drawingml/2006/main">
            <a:off x="1104900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526967"/>
                </a:solidFill>
                <a:latin typeface="Helvetica Neue"/>
                <a:ea typeface="Helvetica Neue"/>
                <a:cs typeface="Helvetica Neue"/>
              </a:defRPr>
            </a:pPr>
            <a:r>
              <a:rPr sz="1350" b="0">
                <a:solidFill>
                  <a:srgbClr val="526967"/>
                </a:solidFill>
                <a:latin typeface="Helvetica Neue"/>
                <a:ea typeface="Helvetica Neue"/>
                <a:cs typeface="Helvetica Neue"/>
              </a:rPr>
              <a:t>04</a:t>
            </a:r>
          </a:p>
        </p:txBody>
      </p:sp>
    </p:spTree>
    <p:extLst>
      <p:ext uri="{BB962C8B-B14F-4D97-AF65-F5344CB8AC3E}">
        <p14:creationId xmlns:p14="http://schemas.microsoft.com/office/powerpoint/2010/main" val="1838762504"/>
      </p:ext>
    </p:extLst>
  </p:cSld>
</p:sld>
</file>

<file path=ppt/slides/slide5.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F4C15A7-1691-4A13-BDA3-7E557E21FBAE}"/>
              </a:ext>
            </a:extLst>
          </p:cNvPr>
          <p:cNvSpPr>
            <a:spLocks xmlns:a="http://schemas.openxmlformats.org/drawingml/2006/main" noGrp="1"/>
          </p:cNvSpPr>
          <p:nvPr/>
        </p:nvSpPr>
        <p:spPr>
          <a:xfrm xmlns:a="http://schemas.openxmlformats.org/drawingml/2006/main">
            <a:off x="685800" y="5238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C3939"/>
                </a:solidFill>
                <a:latin typeface="Helvetica Neue"/>
                <a:ea typeface="Helvetica Neue"/>
                <a:cs typeface="Helvetica Neue"/>
              </a:defRPr>
            </a:pPr>
            <a:r>
              <a:rPr sz="3450" b="1">
                <a:solidFill>
                  <a:srgbClr val="1C3939"/>
                </a:solidFill>
                <a:latin typeface="Helvetica Neue"/>
                <a:ea typeface="Helvetica Neue"/>
                <a:cs typeface="Helvetica Neue"/>
              </a:rPr>
              <a:t>Technology and control</a:t>
            </a:r>
          </a:p>
        </p:txBody>
      </p:sp>
      <p:sp>
        <p:nvSpPr>
          <p:cNvPr id="2" name="">
            <a:extLst xmlns:a="http://schemas.openxmlformats.org/drawingml/2006/main">
              <a:ext uri="{FF2B5EF4-FFF2-40B4-BE49-F238E27FC236}">
                <a16:creationId xmlns:a16="http://schemas.microsoft.com/office/drawing/2014/main" id="{A13E65ED-8A9C-499B-B7C7-6293968B8038}"/>
              </a:ext>
            </a:extLst>
          </p:cNvPr>
          <p:cNvSpPr>
            <a:spLocks xmlns:a="http://schemas.openxmlformats.org/drawingml/2006/main" noGrp="1"/>
          </p:cNvSpPr>
          <p:nvPr/>
        </p:nvSpPr>
        <p:spPr>
          <a:xfrm xmlns:a="http://schemas.openxmlformats.org/drawingml/2006/main">
            <a:off x="685800" y="1543050"/>
            <a:ext cx="4810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127873"/>
                </a:solidFill>
                <a:latin typeface="Helvetica Neue"/>
                <a:ea typeface="Helvetica Neue"/>
                <a:cs typeface="Helvetica Neue"/>
              </a:defRPr>
            </a:pPr>
            <a:r>
              <a:rPr sz="2175" b="1">
                <a:solidFill>
                  <a:srgbClr val="127873"/>
                </a:solidFill>
                <a:latin typeface="Helvetica Neue"/>
                <a:ea typeface="Helvetica Neue"/>
                <a:cs typeface="Helvetica Neue"/>
              </a:rPr>
              <a:t>Conversation</a:t>
            </a:r>
          </a:p>
        </p:txBody>
      </p:sp>
      <p:sp>
        <p:nvSpPr>
          <p:cNvPr id="3" name="">
            <a:extLst xmlns:a="http://schemas.openxmlformats.org/drawingml/2006/main">
              <a:ext uri="{FF2B5EF4-FFF2-40B4-BE49-F238E27FC236}">
                <a16:creationId xmlns:a16="http://schemas.microsoft.com/office/drawing/2014/main" id="{0DA8FA26-AEF6-4ED9-9B10-11036AF8566C}"/>
              </a:ext>
            </a:extLst>
          </p:cNvPr>
          <p:cNvSpPr>
            <a:spLocks xmlns:a="http://schemas.openxmlformats.org/drawingml/2006/main" noGrp="1"/>
          </p:cNvSpPr>
          <p:nvPr/>
        </p:nvSpPr>
        <p:spPr>
          <a:xfrm xmlns:a="http://schemas.openxmlformats.org/drawingml/2006/main">
            <a:off x="685800" y="209550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1C3939"/>
                </a:solidFill>
                <a:latin typeface="Helvetica Neue"/>
                <a:ea typeface="Helvetica Neue"/>
                <a:cs typeface="Helvetica Neue"/>
              </a:defRPr>
            </a:pPr>
            <a:r>
              <a:rPr sz="2250" b="1">
                <a:solidFill>
                  <a:srgbClr val="1C3939"/>
                </a:solidFill>
                <a:latin typeface="Helvetica Neue"/>
                <a:ea typeface="Helvetica Neue"/>
                <a:cs typeface="Helvetica Neue"/>
              </a:rPr>
              <a:t>AssemblyAI Voice Agent</a:t>
            </a:r>
          </a:p>
        </p:txBody>
      </p:sp>
      <p:sp>
        <p:nvSpPr>
          <p:cNvPr id="4" name="">
            <a:extLst xmlns:a="http://schemas.openxmlformats.org/drawingml/2006/main">
              <a:ext uri="{FF2B5EF4-FFF2-40B4-BE49-F238E27FC236}">
                <a16:creationId xmlns:a16="http://schemas.microsoft.com/office/drawing/2014/main" id="{C6FCE3C6-3751-462D-8A3D-E028C6D38A4A}"/>
              </a:ext>
            </a:extLst>
          </p:cNvPr>
          <p:cNvSpPr>
            <a:spLocks xmlns:a="http://schemas.openxmlformats.org/drawingml/2006/main" noGrp="1"/>
          </p:cNvSpPr>
          <p:nvPr/>
        </p:nvSpPr>
        <p:spPr>
          <a:xfrm xmlns:a="http://schemas.openxmlformats.org/drawingml/2006/main">
            <a:off x="685800" y="2581275"/>
            <a:ext cx="4857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1C3939"/>
                </a:solidFill>
                <a:latin typeface="Helvetica Neue"/>
                <a:ea typeface="Helvetica Neue"/>
                <a:cs typeface="Helvetica Neue"/>
              </a:defRPr>
            </a:pPr>
            <a:r>
              <a:rPr sz="1875" b="0">
                <a:solidFill>
                  <a:srgbClr val="1C3939"/>
                </a:solidFill>
                <a:latin typeface="Helvetica Neue"/>
                <a:ea typeface="Helvetica Neue"/>
                <a:cs typeface="Helvetica Neue"/>
              </a:rPr>
              <a:t>Speech, turn-taking and agent audio</a:t>
            </a:r>
          </a:p>
        </p:txBody>
      </p:sp>
      <p:sp>
        <p:nvSpPr>
          <p:cNvPr id="5" name="">
            <a:extLst xmlns:a="http://schemas.openxmlformats.org/drawingml/2006/main">
              <a:ext uri="{FF2B5EF4-FFF2-40B4-BE49-F238E27FC236}">
                <a16:creationId xmlns:a16="http://schemas.microsoft.com/office/drawing/2014/main" id="{9D2F2A71-9187-4381-8549-9ED1053DE4C4}"/>
              </a:ext>
            </a:extLst>
          </p:cNvPr>
          <p:cNvSpPr>
            <a:spLocks xmlns:a="http://schemas.openxmlformats.org/drawingml/2006/main" noGrp="1"/>
          </p:cNvSpPr>
          <p:nvPr/>
        </p:nvSpPr>
        <p:spPr>
          <a:xfrm xmlns:a="http://schemas.openxmlformats.org/drawingml/2006/main">
            <a:off x="685800" y="3648075"/>
            <a:ext cx="5286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1C3939"/>
                </a:solidFill>
                <a:latin typeface="Helvetica Neue"/>
                <a:ea typeface="Helvetica Neue"/>
                <a:cs typeface="Helvetica Neue"/>
              </a:defRPr>
            </a:pPr>
            <a:r>
              <a:rPr sz="2175" b="1">
                <a:solidFill>
                  <a:srgbClr val="1C3939"/>
                </a:solidFill>
                <a:latin typeface="Helvetica Neue"/>
                <a:ea typeface="Helvetica Neue"/>
                <a:cs typeface="Helvetica Neue"/>
              </a:rPr>
              <a:t>Nebius Nemotron-3.5-Lightning</a:t>
            </a:r>
          </a:p>
        </p:txBody>
      </p:sp>
      <p:sp>
        <p:nvSpPr>
          <p:cNvPr id="6" name="">
            <a:extLst xmlns:a="http://schemas.openxmlformats.org/drawingml/2006/main">
              <a:ext uri="{FF2B5EF4-FFF2-40B4-BE49-F238E27FC236}">
                <a16:creationId xmlns:a16="http://schemas.microsoft.com/office/drawing/2014/main" id="{0FAA9307-6332-4827-86EA-D91A12847237}"/>
              </a:ext>
            </a:extLst>
          </p:cNvPr>
          <p:cNvSpPr>
            <a:spLocks xmlns:a="http://schemas.openxmlformats.org/drawingml/2006/main" noGrp="1"/>
          </p:cNvSpPr>
          <p:nvPr/>
        </p:nvSpPr>
        <p:spPr>
          <a:xfrm xmlns:a="http://schemas.openxmlformats.org/drawingml/2006/main">
            <a:off x="685800" y="4524375"/>
            <a:ext cx="5048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1C3939"/>
                </a:solidFill>
                <a:latin typeface="Helvetica Neue"/>
                <a:ea typeface="Helvetica Neue"/>
                <a:cs typeface="Helvetica Neue"/>
              </a:defRPr>
            </a:pPr>
            <a:r>
              <a:rPr sz="1875" b="0">
                <a:solidFill>
                  <a:srgbClr val="1C3939"/>
                </a:solidFill>
                <a:latin typeface="Helvetica Neue"/>
                <a:ea typeface="Helvetica Neue"/>
                <a:cs typeface="Helvetica Neue"/>
              </a:rPr>
              <a:t>Conversation model and independent structured extraction</a:t>
            </a:r>
          </a:p>
        </p:txBody>
      </p:sp>
      <p:sp>
        <p:nvSpPr>
          <p:cNvPr id="7" name="">
            <a:extLst xmlns:a="http://schemas.openxmlformats.org/drawingml/2006/main">
              <a:ext uri="{FF2B5EF4-FFF2-40B4-BE49-F238E27FC236}">
                <a16:creationId xmlns:a16="http://schemas.microsoft.com/office/drawing/2014/main" id="{1D6CF2B0-484F-415F-8EC9-FAC024AAB50A}"/>
              </a:ext>
            </a:extLst>
          </p:cNvPr>
          <p:cNvSpPr>
            <a:spLocks xmlns:a="http://schemas.openxmlformats.org/drawingml/2006/main" noGrp="1"/>
          </p:cNvSpPr>
          <p:nvPr/>
        </p:nvSpPr>
        <p:spPr>
          <a:xfrm xmlns:a="http://schemas.openxmlformats.org/drawingml/2006/main">
            <a:off x="6848475" y="1543050"/>
            <a:ext cx="4657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127873"/>
                </a:solidFill>
                <a:latin typeface="Helvetica Neue"/>
                <a:ea typeface="Helvetica Neue"/>
                <a:cs typeface="Helvetica Neue"/>
              </a:defRPr>
            </a:pPr>
            <a:r>
              <a:rPr sz="2175" b="1">
                <a:solidFill>
                  <a:srgbClr val="127873"/>
                </a:solidFill>
                <a:latin typeface="Helvetica Neue"/>
                <a:ea typeface="Helvetica Neue"/>
                <a:cs typeface="Helvetica Neue"/>
              </a:rPr>
              <a:t>Application authority</a:t>
            </a:r>
          </a:p>
        </p:txBody>
      </p:sp>
      <p:sp>
        <p:nvSpPr>
          <p:cNvPr id="8" name="">
            <a:extLst xmlns:a="http://schemas.openxmlformats.org/drawingml/2006/main">
              <a:ext uri="{FF2B5EF4-FFF2-40B4-BE49-F238E27FC236}">
                <a16:creationId xmlns:a16="http://schemas.microsoft.com/office/drawing/2014/main" id="{D70A15DC-B107-40AD-947B-866857629BE3}"/>
              </a:ext>
            </a:extLst>
          </p:cNvPr>
          <p:cNvSpPr>
            <a:spLocks xmlns:a="http://schemas.openxmlformats.org/drawingml/2006/main" noGrp="1"/>
          </p:cNvSpPr>
          <p:nvPr/>
        </p:nvSpPr>
        <p:spPr>
          <a:xfrm xmlns:a="http://schemas.openxmlformats.org/drawingml/2006/main">
            <a:off x="6848475" y="2095500"/>
            <a:ext cx="4657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1C3939"/>
                </a:solidFill>
                <a:latin typeface="Helvetica Neue"/>
                <a:ea typeface="Helvetica Neue"/>
                <a:cs typeface="Helvetica Neue"/>
              </a:defRPr>
            </a:pPr>
            <a:r>
              <a:rPr sz="2250" b="1">
                <a:solidFill>
                  <a:srgbClr val="1C3939"/>
                </a:solidFill>
                <a:latin typeface="Helvetica Neue"/>
                <a:ea typeface="Helvetica Neue"/>
                <a:cs typeface="Helvetica Neue"/>
              </a:rPr>
              <a:t>Cloudflare Workers</a:t>
            </a:r>
          </a:p>
        </p:txBody>
      </p:sp>
      <p:sp>
        <p:nvSpPr>
          <p:cNvPr id="9" name="">
            <a:extLst xmlns:a="http://schemas.openxmlformats.org/drawingml/2006/main">
              <a:ext uri="{FF2B5EF4-FFF2-40B4-BE49-F238E27FC236}">
                <a16:creationId xmlns:a16="http://schemas.microsoft.com/office/drawing/2014/main" id="{6D1DAF65-E602-49F1-9289-A0C92CD4962B}"/>
              </a:ext>
            </a:extLst>
          </p:cNvPr>
          <p:cNvSpPr>
            <a:spLocks xmlns:a="http://schemas.openxmlformats.org/drawingml/2006/main" noGrp="1"/>
          </p:cNvSpPr>
          <p:nvPr/>
        </p:nvSpPr>
        <p:spPr>
          <a:xfrm xmlns:a="http://schemas.openxmlformats.org/drawingml/2006/main">
            <a:off x="6848475" y="2581275"/>
            <a:ext cx="4657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1C3939"/>
                </a:solidFill>
                <a:latin typeface="Helvetica Neue"/>
                <a:ea typeface="Helvetica Neue"/>
                <a:cs typeface="Helvetica Neue"/>
              </a:defRPr>
            </a:pPr>
            <a:r>
              <a:rPr sz="1875" b="0">
                <a:solidFill>
                  <a:srgbClr val="1C3939"/>
                </a:solidFill>
                <a:latin typeface="Helvetica Neue"/>
                <a:ea typeface="Helvetica Neue"/>
                <a:cs typeface="Helvetica Neue"/>
              </a:rPr>
              <a:t>Next.js through OpenNext</a:t>
            </a:r>
          </a:p>
        </p:txBody>
      </p:sp>
      <p:sp>
        <p:nvSpPr>
          <p:cNvPr id="10" name="">
            <a:extLst xmlns:a="http://schemas.openxmlformats.org/drawingml/2006/main">
              <a:ext uri="{FF2B5EF4-FFF2-40B4-BE49-F238E27FC236}">
                <a16:creationId xmlns:a16="http://schemas.microsoft.com/office/drawing/2014/main" id="{AAC79A20-7AAD-4C6D-B477-A72A698F1AD0}"/>
              </a:ext>
            </a:extLst>
          </p:cNvPr>
          <p:cNvSpPr>
            <a:spLocks xmlns:a="http://schemas.openxmlformats.org/drawingml/2006/main" noGrp="1"/>
          </p:cNvSpPr>
          <p:nvPr/>
        </p:nvSpPr>
        <p:spPr>
          <a:xfrm xmlns:a="http://schemas.openxmlformats.org/drawingml/2006/main">
            <a:off x="6848475" y="3467100"/>
            <a:ext cx="4657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1C3939"/>
                </a:solidFill>
                <a:latin typeface="Helvetica Neue"/>
                <a:ea typeface="Helvetica Neue"/>
                <a:cs typeface="Helvetica Neue"/>
              </a:defRPr>
            </a:pPr>
            <a:r>
              <a:rPr sz="2250" b="1">
                <a:solidFill>
                  <a:srgbClr val="1C3939"/>
                </a:solidFill>
                <a:latin typeface="Helvetica Neue"/>
                <a:ea typeface="Helvetica Neue"/>
                <a:cs typeface="Helvetica Neue"/>
              </a:rPr>
              <a:t>Durable Object</a:t>
            </a:r>
          </a:p>
        </p:txBody>
      </p:sp>
      <p:sp>
        <p:nvSpPr>
          <p:cNvPr id="11" name="">
            <a:extLst xmlns:a="http://schemas.openxmlformats.org/drawingml/2006/main">
              <a:ext uri="{FF2B5EF4-FFF2-40B4-BE49-F238E27FC236}">
                <a16:creationId xmlns:a16="http://schemas.microsoft.com/office/drawing/2014/main" id="{36D80B6F-DAF7-414B-B0A8-775F4873C8B4}"/>
              </a:ext>
            </a:extLst>
          </p:cNvPr>
          <p:cNvSpPr>
            <a:spLocks xmlns:a="http://schemas.openxmlformats.org/drawingml/2006/main" noGrp="1"/>
          </p:cNvSpPr>
          <p:nvPr/>
        </p:nvSpPr>
        <p:spPr>
          <a:xfrm xmlns:a="http://schemas.openxmlformats.org/drawingml/2006/main">
            <a:off x="6848475" y="3952875"/>
            <a:ext cx="46577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1C3939"/>
                </a:solidFill>
                <a:latin typeface="Helvetica Neue"/>
                <a:ea typeface="Helvetica Neue"/>
                <a:cs typeface="Helvetica Neue"/>
              </a:defRPr>
            </a:pPr>
            <a:r>
              <a:rPr sz="1875" b="0">
                <a:solidFill>
                  <a:srgbClr val="1C3939"/>
                </a:solidFill>
                <a:latin typeface="Helvetica Neue"/>
                <a:ea typeface="Helvetica Neue"/>
                <a:cs typeface="Helvetica Neue"/>
              </a:rPr>
              <a:t>Consent, evidence revisions and nurse takeover</a:t>
            </a:r>
          </a:p>
        </p:txBody>
      </p:sp>
      <p:sp>
        <p:nvSpPr>
          <p:cNvPr id="12" name="">
            <a:extLst xmlns:a="http://schemas.openxmlformats.org/drawingml/2006/main">
              <a:ext uri="{FF2B5EF4-FFF2-40B4-BE49-F238E27FC236}">
                <a16:creationId xmlns:a16="http://schemas.microsoft.com/office/drawing/2014/main" id="{03FCCCC7-EC6C-4507-AAC9-4D450BB06709}"/>
              </a:ext>
            </a:extLst>
          </p:cNvPr>
          <p:cNvSpPr>
            <a:spLocks xmlns:a="http://schemas.openxmlformats.org/drawingml/2006/main" noGrp="1"/>
          </p:cNvSpPr>
          <p:nvPr/>
        </p:nvSpPr>
        <p:spPr>
          <a:xfrm xmlns:a="http://schemas.openxmlformats.org/drawingml/2006/main">
            <a:off x="6848475" y="5057775"/>
            <a:ext cx="46577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26967"/>
                </a:solidFill>
                <a:latin typeface="Helvetica Neue"/>
                <a:ea typeface="Helvetica Neue"/>
                <a:cs typeface="Helvetica Neue"/>
              </a:defRPr>
            </a:pPr>
            <a:r>
              <a:rPr sz="1800" b="0">
                <a:solidFill>
                  <a:srgbClr val="526967"/>
                </a:solidFill>
                <a:latin typeface="Helvetica Neue"/>
                <a:ea typeface="Helvetica Neue"/>
                <a:cs typeface="Helvetica Neue"/>
              </a:rPr>
              <a:t>D1 stores projections. R2 holds private exports.</a:t>
            </a:r>
          </a:p>
        </p:txBody>
      </p:sp>
      <p:sp>
        <p:nvSpPr>
          <p:cNvPr id="13" name="">
            <a:extLst xmlns:a="http://schemas.openxmlformats.org/drawingml/2006/main">
              <a:ext uri="{FF2B5EF4-FFF2-40B4-BE49-F238E27FC236}">
                <a16:creationId xmlns:a16="http://schemas.microsoft.com/office/drawing/2014/main" id="{D2FFE825-5BE4-47DB-978B-9637A0D12183}"/>
              </a:ext>
            </a:extLst>
          </p:cNvPr>
          <p:cNvSpPr>
            <a:spLocks xmlns:a="http://schemas.openxmlformats.org/drawingml/2006/main" noGrp="1"/>
          </p:cNvSpPr>
          <p:nvPr/>
        </p:nvSpPr>
        <p:spPr>
          <a:xfrm xmlns:a="http://schemas.openxmlformats.org/drawingml/2006/main">
            <a:off x="685800" y="61150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127873"/>
                </a:solidFill>
                <a:latin typeface="Helvetica Neue"/>
                <a:ea typeface="Helvetica Neue"/>
                <a:cs typeface="Helvetica Neue"/>
              </a:defRPr>
            </a:pPr>
            <a:r>
              <a:rPr sz="1725" b="0">
                <a:solidFill>
                  <a:srgbClr val="127873"/>
                </a:solidFill>
                <a:latin typeface="Helvetica Neue"/>
                <a:ea typeface="Helvetica Neue"/>
                <a:cs typeface="Helvetica Neue"/>
              </a:rPr>
              <a:t>Human conversation bypasses the automated providers after takeover.</a:t>
            </a:r>
          </a:p>
        </p:txBody>
      </p:sp>
      <p:sp>
        <p:nvSpPr>
          <p:cNvPr id="14" name="">
            <a:extLst xmlns:a="http://schemas.openxmlformats.org/drawingml/2006/main">
              <a:ext uri="{FF2B5EF4-FFF2-40B4-BE49-F238E27FC236}">
                <a16:creationId xmlns:a16="http://schemas.microsoft.com/office/drawing/2014/main" id="{5C6241F5-154E-4D43-98D5-DDDAD956D03E}"/>
              </a:ext>
            </a:extLst>
          </p:cNvPr>
          <p:cNvSpPr>
            <a:spLocks xmlns:a="http://schemas.openxmlformats.org/drawingml/2006/main" noGrp="1"/>
          </p:cNvSpPr>
          <p:nvPr/>
        </p:nvSpPr>
        <p:spPr>
          <a:xfrm xmlns:a="http://schemas.openxmlformats.org/drawingml/2006/main">
            <a:off x="1104900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526967"/>
                </a:solidFill>
                <a:latin typeface="Helvetica Neue"/>
                <a:ea typeface="Helvetica Neue"/>
                <a:cs typeface="Helvetica Neue"/>
              </a:defRPr>
            </a:pPr>
            <a:r>
              <a:rPr sz="1350" b="0">
                <a:solidFill>
                  <a:srgbClr val="526967"/>
                </a:solidFill>
                <a:latin typeface="Helvetica Neue"/>
                <a:ea typeface="Helvetica Neue"/>
                <a:cs typeface="Helvetica Neue"/>
              </a:rPr>
              <a:t>05</a:t>
            </a:r>
          </a:p>
        </p:txBody>
      </p:sp>
    </p:spTree>
    <p:extLst>
      <p:ext uri="{BB962C8B-B14F-4D97-AF65-F5344CB8AC3E}">
        <p14:creationId xmlns:p14="http://schemas.microsoft.com/office/powerpoint/2010/main" val="2006317440"/>
      </p:ext>
    </p:extLst>
  </p:cSld>
</p:sld>
</file>

<file path=ppt/slides/slide6.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039ED75-CEFD-46F5-B2B4-D97DED57DBD7}"/>
              </a:ext>
            </a:extLst>
          </p:cNvPr>
          <p:cNvSpPr>
            <a:spLocks xmlns:a="http://schemas.openxmlformats.org/drawingml/2006/main" noGrp="1"/>
          </p:cNvSpPr>
          <p:nvPr/>
        </p:nvSpPr>
        <p:spPr>
          <a:xfrm xmlns:a="http://schemas.openxmlformats.org/drawingml/2006/main">
            <a:off x="685800" y="5238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C3939"/>
                </a:solidFill>
                <a:latin typeface="Helvetica Neue"/>
                <a:ea typeface="Helvetica Neue"/>
                <a:cs typeface="Helvetica Neue"/>
              </a:defRPr>
            </a:pPr>
            <a:r>
              <a:rPr sz="3450" b="1">
                <a:solidFill>
                  <a:srgbClr val="1C3939"/>
                </a:solidFill>
                <a:latin typeface="Helvetica Neue"/>
                <a:ea typeface="Helvetica Neue"/>
                <a:cs typeface="Helvetica Neue"/>
              </a:rPr>
              <a:t>Evidence and its limits</a:t>
            </a:r>
          </a:p>
        </p:txBody>
      </p:sp>
      <p:sp>
        <p:nvSpPr>
          <p:cNvPr id="2" name="">
            <a:extLst xmlns:a="http://schemas.openxmlformats.org/drawingml/2006/main">
              <a:ext uri="{FF2B5EF4-FFF2-40B4-BE49-F238E27FC236}">
                <a16:creationId xmlns:a16="http://schemas.microsoft.com/office/drawing/2014/main" id="{A0F72263-96B0-4B97-8601-E1DA5F0E8823}"/>
              </a:ext>
            </a:extLst>
          </p:cNvPr>
          <p:cNvSpPr>
            <a:spLocks xmlns:a="http://schemas.openxmlformats.org/drawingml/2006/main" noGrp="1"/>
          </p:cNvSpPr>
          <p:nvPr/>
        </p:nvSpPr>
        <p:spPr>
          <a:xfrm xmlns:a="http://schemas.openxmlformats.org/drawingml/2006/main">
            <a:off x="685800" y="1504950"/>
            <a:ext cx="323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6450" b="1">
                <a:solidFill>
                  <a:srgbClr val="127873"/>
                </a:solidFill>
                <a:latin typeface="Helvetica Neue"/>
                <a:ea typeface="Helvetica Neue"/>
                <a:cs typeface="Helvetica Neue"/>
              </a:defRPr>
            </a:pPr>
            <a:r>
              <a:rPr sz="6450" b="1">
                <a:solidFill>
                  <a:srgbClr val="127873"/>
                </a:solidFill>
                <a:latin typeface="Helvetica Neue"/>
                <a:ea typeface="Helvetica Neue"/>
                <a:cs typeface="Helvetica Neue"/>
              </a:rPr>
              <a:t>168</a:t>
            </a:r>
          </a:p>
        </p:txBody>
      </p:sp>
      <p:sp>
        <p:nvSpPr>
          <p:cNvPr id="3" name="">
            <a:extLst xmlns:a="http://schemas.openxmlformats.org/drawingml/2006/main">
              <a:ext uri="{FF2B5EF4-FFF2-40B4-BE49-F238E27FC236}">
                <a16:creationId xmlns:a16="http://schemas.microsoft.com/office/drawing/2014/main" id="{9D5B7BEA-5404-4B63-9828-AB3773784AE2}"/>
              </a:ext>
            </a:extLst>
          </p:cNvPr>
          <p:cNvSpPr>
            <a:spLocks xmlns:a="http://schemas.openxmlformats.org/drawingml/2006/main" noGrp="1"/>
          </p:cNvSpPr>
          <p:nvPr/>
        </p:nvSpPr>
        <p:spPr>
          <a:xfrm xmlns:a="http://schemas.openxmlformats.org/drawingml/2006/main">
            <a:off x="685800" y="2705100"/>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1C3939"/>
                </a:solidFill>
                <a:latin typeface="Helvetica Neue"/>
                <a:ea typeface="Helvetica Neue"/>
                <a:cs typeface="Helvetica Neue"/>
              </a:defRPr>
            </a:pPr>
            <a:r>
              <a:rPr sz="2025" b="1">
                <a:solidFill>
                  <a:srgbClr val="1C3939"/>
                </a:solidFill>
                <a:latin typeface="Helvetica Neue"/>
                <a:ea typeface="Helvetica Neue"/>
                <a:cs typeface="Helvetica Neue"/>
              </a:rPr>
              <a:t>Unit tests pass</a:t>
            </a:r>
          </a:p>
        </p:txBody>
      </p:sp>
      <p:sp>
        <p:nvSpPr>
          <p:cNvPr id="4" name="">
            <a:extLst xmlns:a="http://schemas.openxmlformats.org/drawingml/2006/main">
              <a:ext uri="{FF2B5EF4-FFF2-40B4-BE49-F238E27FC236}">
                <a16:creationId xmlns:a16="http://schemas.microsoft.com/office/drawing/2014/main" id="{8B260D44-16A7-44BF-92F3-167067BC2E15}"/>
              </a:ext>
            </a:extLst>
          </p:cNvPr>
          <p:cNvSpPr>
            <a:spLocks xmlns:a="http://schemas.openxmlformats.org/drawingml/2006/main" noGrp="1"/>
          </p:cNvSpPr>
          <p:nvPr/>
        </p:nvSpPr>
        <p:spPr>
          <a:xfrm xmlns:a="http://schemas.openxmlformats.org/drawingml/2006/main">
            <a:off x="4286250" y="1504950"/>
            <a:ext cx="323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6450" b="1">
                <a:solidFill>
                  <a:srgbClr val="127873"/>
                </a:solidFill>
                <a:latin typeface="Helvetica Neue"/>
                <a:ea typeface="Helvetica Neue"/>
                <a:cs typeface="Helvetica Neue"/>
              </a:defRPr>
            </a:pPr>
            <a:r>
              <a:rPr sz="6450" b="1">
                <a:solidFill>
                  <a:srgbClr val="127873"/>
                </a:solidFill>
                <a:latin typeface="Helvetica Neue"/>
                <a:ea typeface="Helvetica Neue"/>
                <a:cs typeface="Helvetica Neue"/>
              </a:rPr>
              <a:t>177</a:t>
            </a:r>
          </a:p>
        </p:txBody>
      </p:sp>
      <p:sp>
        <p:nvSpPr>
          <p:cNvPr id="5" name="">
            <a:extLst xmlns:a="http://schemas.openxmlformats.org/drawingml/2006/main">
              <a:ext uri="{FF2B5EF4-FFF2-40B4-BE49-F238E27FC236}">
                <a16:creationId xmlns:a16="http://schemas.microsoft.com/office/drawing/2014/main" id="{7D498418-E35C-4B1A-93EF-657ED111A7A2}"/>
              </a:ext>
            </a:extLst>
          </p:cNvPr>
          <p:cNvSpPr>
            <a:spLocks xmlns:a="http://schemas.openxmlformats.org/drawingml/2006/main" noGrp="1"/>
          </p:cNvSpPr>
          <p:nvPr/>
        </p:nvSpPr>
        <p:spPr>
          <a:xfrm xmlns:a="http://schemas.openxmlformats.org/drawingml/2006/main">
            <a:off x="4286250" y="2705100"/>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1C3939"/>
                </a:solidFill>
                <a:latin typeface="Helvetica Neue"/>
                <a:ea typeface="Helvetica Neue"/>
                <a:cs typeface="Helvetica Neue"/>
              </a:defRPr>
            </a:pPr>
            <a:r>
              <a:rPr sz="2025" b="1">
                <a:solidFill>
                  <a:srgbClr val="1C3939"/>
                </a:solidFill>
                <a:latin typeface="Helvetica Neue"/>
                <a:ea typeface="Helvetica Neue"/>
                <a:cs typeface="Helvetica Neue"/>
              </a:rPr>
              <a:t>Workers tests pass</a:t>
            </a:r>
          </a:p>
        </p:txBody>
      </p:sp>
      <p:sp>
        <p:nvSpPr>
          <p:cNvPr id="6" name="">
            <a:extLst xmlns:a="http://schemas.openxmlformats.org/drawingml/2006/main">
              <a:ext uri="{FF2B5EF4-FFF2-40B4-BE49-F238E27FC236}">
                <a16:creationId xmlns:a16="http://schemas.microsoft.com/office/drawing/2014/main" id="{DDA222C6-92F1-46A6-9102-B53E70C31CA3}"/>
              </a:ext>
            </a:extLst>
          </p:cNvPr>
          <p:cNvSpPr>
            <a:spLocks xmlns:a="http://schemas.openxmlformats.org/drawingml/2006/main" noGrp="1"/>
          </p:cNvSpPr>
          <p:nvPr/>
        </p:nvSpPr>
        <p:spPr>
          <a:xfrm xmlns:a="http://schemas.openxmlformats.org/drawingml/2006/main">
            <a:off x="7886700" y="1504950"/>
            <a:ext cx="323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6450" b="1">
                <a:solidFill>
                  <a:srgbClr val="127873"/>
                </a:solidFill>
                <a:latin typeface="Helvetica Neue"/>
                <a:ea typeface="Helvetica Neue"/>
                <a:cs typeface="Helvetica Neue"/>
              </a:defRPr>
            </a:pPr>
            <a:r>
              <a:rPr sz="6450" b="1">
                <a:solidFill>
                  <a:srgbClr val="127873"/>
                </a:solidFill>
                <a:latin typeface="Helvetica Neue"/>
                <a:ea typeface="Helvetica Neue"/>
                <a:cs typeface="Helvetica Neue"/>
              </a:rPr>
              <a:t>29</a:t>
            </a:r>
          </a:p>
        </p:txBody>
      </p:sp>
      <p:sp>
        <p:nvSpPr>
          <p:cNvPr id="7" name="">
            <a:extLst xmlns:a="http://schemas.openxmlformats.org/drawingml/2006/main">
              <a:ext uri="{FF2B5EF4-FFF2-40B4-BE49-F238E27FC236}">
                <a16:creationId xmlns:a16="http://schemas.microsoft.com/office/drawing/2014/main" id="{11A8A73C-8EC9-4FCD-842E-6F7AF79F8AA6}"/>
              </a:ext>
            </a:extLst>
          </p:cNvPr>
          <p:cNvSpPr>
            <a:spLocks xmlns:a="http://schemas.openxmlformats.org/drawingml/2006/main" noGrp="1"/>
          </p:cNvSpPr>
          <p:nvPr/>
        </p:nvSpPr>
        <p:spPr>
          <a:xfrm xmlns:a="http://schemas.openxmlformats.org/drawingml/2006/main">
            <a:off x="7886700" y="2705100"/>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1C3939"/>
                </a:solidFill>
                <a:latin typeface="Helvetica Neue"/>
                <a:ea typeface="Helvetica Neue"/>
                <a:cs typeface="Helvetica Neue"/>
              </a:defRPr>
            </a:pPr>
            <a:r>
              <a:rPr sz="2025" b="1">
                <a:solidFill>
                  <a:srgbClr val="1C3939"/>
                </a:solidFill>
                <a:latin typeface="Helvetica Neue"/>
                <a:ea typeface="Helvetica Neue"/>
                <a:cs typeface="Helvetica Neue"/>
              </a:rPr>
              <a:t>Browser tests pass</a:t>
            </a:r>
          </a:p>
        </p:txBody>
      </p:sp>
      <p:sp>
        <p:nvSpPr>
          <p:cNvPr id="8" name="">
            <a:extLst xmlns:a="http://schemas.openxmlformats.org/drawingml/2006/main">
              <a:ext uri="{FF2B5EF4-FFF2-40B4-BE49-F238E27FC236}">
                <a16:creationId xmlns:a16="http://schemas.microsoft.com/office/drawing/2014/main" id="{ABFF1553-6626-4AA7-98BD-139DF4617DF2}"/>
              </a:ext>
            </a:extLst>
          </p:cNvPr>
          <p:cNvSpPr>
            <a:spLocks xmlns:a="http://schemas.openxmlformats.org/drawingml/2006/main" noGrp="1"/>
          </p:cNvSpPr>
          <p:nvPr/>
        </p:nvSpPr>
        <p:spPr>
          <a:xfrm xmlns:a="http://schemas.openxmlformats.org/drawingml/2006/main">
            <a:off x="685800" y="341947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526967"/>
                </a:solidFill>
                <a:latin typeface="Helvetica Neue"/>
                <a:ea typeface="Helvetica Neue"/>
                <a:cs typeface="Helvetica Neue"/>
              </a:defRPr>
            </a:pPr>
            <a:r>
              <a:rPr sz="1725" b="0">
                <a:solidFill>
                  <a:srgbClr val="526967"/>
                </a:solidFill>
                <a:latin typeface="Helvetica Neue"/>
                <a:ea typeface="Helvetica Neue"/>
                <a:cs typeface="Helvetica Neue"/>
              </a:rPr>
              <a:t>29 Sep 2026 local regression run. 19 tooling tests also passed.
The regression run skipped one separate live-provider test.</a:t>
            </a:r>
          </a:p>
        </p:txBody>
      </p:sp>
      <p:sp>
        <p:nvSpPr>
          <p:cNvPr id="9" name="">
            <a:extLst xmlns:a="http://schemas.openxmlformats.org/drawingml/2006/main">
              <a:ext uri="{FF2B5EF4-FFF2-40B4-BE49-F238E27FC236}">
                <a16:creationId xmlns:a16="http://schemas.microsoft.com/office/drawing/2014/main" id="{15CFD3BF-BF88-4D81-99E8-A041E9E89FEE}"/>
              </a:ext>
            </a:extLst>
          </p:cNvPr>
          <p:cNvSpPr>
            <a:spLocks xmlns:a="http://schemas.openxmlformats.org/drawingml/2006/main" noGrp="1"/>
          </p:cNvSpPr>
          <p:nvPr/>
        </p:nvSpPr>
        <p:spPr>
          <a:xfrm xmlns:a="http://schemas.openxmlformats.org/drawingml/2006/main">
            <a:off x="685800" y="4657725"/>
            <a:ext cx="5334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1C3939"/>
                </a:solidFill>
                <a:latin typeface="Helvetica Neue"/>
                <a:ea typeface="Helvetica Neue"/>
                <a:cs typeface="Helvetica Neue"/>
              </a:defRPr>
            </a:pPr>
            <a:r>
              <a:rPr sz="2250" b="1">
                <a:solidFill>
                  <a:srgbClr val="1C3939"/>
                </a:solidFill>
                <a:latin typeface="Helvetica Neue"/>
                <a:ea typeface="Helvetica Neue"/>
                <a:cs typeface="Helvetica Neue"/>
              </a:rPr>
              <a:t>Local real-provider proof</a:t>
            </a:r>
          </a:p>
        </p:txBody>
      </p:sp>
      <p:sp>
        <p:nvSpPr>
          <p:cNvPr id="10" name="">
            <a:extLst xmlns:a="http://schemas.openxmlformats.org/drawingml/2006/main">
              <a:ext uri="{FF2B5EF4-FFF2-40B4-BE49-F238E27FC236}">
                <a16:creationId xmlns:a16="http://schemas.microsoft.com/office/drawing/2014/main" id="{A6932F5E-D933-46D2-9655-78EB23DB1837}"/>
              </a:ext>
            </a:extLst>
          </p:cNvPr>
          <p:cNvSpPr>
            <a:spLocks xmlns:a="http://schemas.openxmlformats.org/drawingml/2006/main" noGrp="1"/>
          </p:cNvSpPr>
          <p:nvPr/>
        </p:nvSpPr>
        <p:spPr>
          <a:xfrm xmlns:a="http://schemas.openxmlformats.org/drawingml/2006/main">
            <a:off x="685800" y="5210175"/>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1C3939"/>
                </a:solidFill>
                <a:latin typeface="Helvetica Neue"/>
                <a:ea typeface="Helvetica Neue"/>
                <a:cs typeface="Helvetica Neue"/>
              </a:defRPr>
            </a:pPr>
            <a:r>
              <a:rPr sz="1800" b="0">
                <a:solidFill>
                  <a:srgbClr val="1C3939"/>
                </a:solidFill>
                <a:latin typeface="Helvetica Neue"/>
                <a:ea typeface="Helvetica Neue"/>
                <a:cs typeface="Helvetica Neue"/>
              </a:rPr>
              <a:t>29 Sep 2026: finalized transcript, evidence-linked fact and two-way browser audio using recorded microphones.</a:t>
            </a:r>
          </a:p>
        </p:txBody>
      </p:sp>
      <p:sp>
        <p:nvSpPr>
          <p:cNvPr id="11" name="">
            <a:extLst xmlns:a="http://schemas.openxmlformats.org/drawingml/2006/main">
              <a:ext uri="{FF2B5EF4-FFF2-40B4-BE49-F238E27FC236}">
                <a16:creationId xmlns:a16="http://schemas.microsoft.com/office/drawing/2014/main" id="{9B04C359-02C6-4F59-982F-68C8770CB0C1}"/>
              </a:ext>
            </a:extLst>
          </p:cNvPr>
          <p:cNvSpPr>
            <a:spLocks xmlns:a="http://schemas.openxmlformats.org/drawingml/2006/main" noGrp="1"/>
          </p:cNvSpPr>
          <p:nvPr/>
        </p:nvSpPr>
        <p:spPr>
          <a:xfrm xmlns:a="http://schemas.openxmlformats.org/drawingml/2006/main">
            <a:off x="6819900" y="4657725"/>
            <a:ext cx="4686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1C3939"/>
                </a:solidFill>
                <a:latin typeface="Helvetica Neue"/>
                <a:ea typeface="Helvetica Neue"/>
                <a:cs typeface="Helvetica Neue"/>
              </a:defRPr>
            </a:pPr>
            <a:r>
              <a:rPr sz="2250" b="1">
                <a:solidFill>
                  <a:srgbClr val="1C3939"/>
                </a:solidFill>
                <a:latin typeface="Helvetica Neue"/>
                <a:ea typeface="Helvetica Neue"/>
                <a:cs typeface="Helvetica Neue"/>
              </a:rPr>
              <a:t>Remaining release gates</a:t>
            </a:r>
          </a:p>
        </p:txBody>
      </p:sp>
      <p:sp>
        <p:nvSpPr>
          <p:cNvPr id="12" name="">
            <a:extLst xmlns:a="http://schemas.openxmlformats.org/drawingml/2006/main">
              <a:ext uri="{FF2B5EF4-FFF2-40B4-BE49-F238E27FC236}">
                <a16:creationId xmlns:a16="http://schemas.microsoft.com/office/drawing/2014/main" id="{28928B2D-C28C-4F72-A516-27D8354C9E14}"/>
              </a:ext>
            </a:extLst>
          </p:cNvPr>
          <p:cNvSpPr>
            <a:spLocks xmlns:a="http://schemas.openxmlformats.org/drawingml/2006/main" noGrp="1"/>
          </p:cNvSpPr>
          <p:nvPr/>
        </p:nvSpPr>
        <p:spPr>
          <a:xfrm xmlns:a="http://schemas.openxmlformats.org/drawingml/2006/main">
            <a:off x="6819900" y="5467350"/>
            <a:ext cx="46863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26967"/>
                </a:solidFill>
                <a:latin typeface="Helvetica Neue"/>
                <a:ea typeface="Helvetica Neue"/>
                <a:cs typeface="Helvetica Neue"/>
              </a:defRPr>
            </a:pPr>
            <a:r>
              <a:rPr sz="1800" b="0">
                <a:solidFill>
                  <a:srgbClr val="526967"/>
                </a:solidFill>
                <a:latin typeface="Helvetica Neue"/>
                <a:ea typeface="Helvetica Neue"/>
                <a:cs typeface="Helvetica Neue"/>
              </a:rPr>
              <a:t>Hosted operation, physical-device audio, provider recording controls and real telephone calls.</a:t>
            </a:r>
          </a:p>
        </p:txBody>
      </p:sp>
      <p:sp>
        <p:nvSpPr>
          <p:cNvPr id="13" name="">
            <a:extLst xmlns:a="http://schemas.openxmlformats.org/drawingml/2006/main">
              <a:ext uri="{FF2B5EF4-FFF2-40B4-BE49-F238E27FC236}">
                <a16:creationId xmlns:a16="http://schemas.microsoft.com/office/drawing/2014/main" id="{2E10C365-72BA-4834-A249-84C6FD9DB886}"/>
              </a:ext>
            </a:extLst>
          </p:cNvPr>
          <p:cNvSpPr>
            <a:spLocks xmlns:a="http://schemas.openxmlformats.org/drawingml/2006/main" noGrp="1"/>
          </p:cNvSpPr>
          <p:nvPr/>
        </p:nvSpPr>
        <p:spPr>
          <a:xfrm xmlns:a="http://schemas.openxmlformats.org/drawingml/2006/main">
            <a:off x="1104900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526967"/>
                </a:solidFill>
                <a:latin typeface="Helvetica Neue"/>
                <a:ea typeface="Helvetica Neue"/>
                <a:cs typeface="Helvetica Neue"/>
              </a:defRPr>
            </a:pPr>
            <a:r>
              <a:rPr sz="1350" b="0">
                <a:solidFill>
                  <a:srgbClr val="526967"/>
                </a:solidFill>
                <a:latin typeface="Helvetica Neue"/>
                <a:ea typeface="Helvetica Neue"/>
                <a:cs typeface="Helvetica Neue"/>
              </a:rPr>
              <a:t>06</a:t>
            </a:r>
          </a:p>
        </p:txBody>
      </p:sp>
    </p:spTree>
    <p:extLst>
      <p:ext uri="{BB962C8B-B14F-4D97-AF65-F5344CB8AC3E}">
        <p14:creationId xmlns:p14="http://schemas.microsoft.com/office/powerpoint/2010/main" val="114865209"/>
      </p:ext>
    </p:extLst>
  </p:cSld>
</p:sld>
</file>

<file path=ppt/slides/slide7.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9026F6A-DF64-40D4-9600-500FD5FC607E}"/>
              </a:ext>
            </a:extLst>
          </p:cNvPr>
          <p:cNvSpPr>
            <a:spLocks xmlns:a="http://schemas.openxmlformats.org/drawingml/2006/main" noGrp="1"/>
          </p:cNvSpPr>
          <p:nvPr/>
        </p:nvSpPr>
        <p:spPr>
          <a:xfrm xmlns:a="http://schemas.openxmlformats.org/drawingml/2006/main">
            <a:off x="685800" y="5238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C3939"/>
                </a:solidFill>
                <a:latin typeface="Helvetica Neue"/>
                <a:ea typeface="Helvetica Neue"/>
                <a:cs typeface="Helvetica Neue"/>
              </a:defRPr>
            </a:pPr>
            <a:r>
              <a:rPr sz="3450" b="1">
                <a:solidFill>
                  <a:srgbClr val="1C3939"/>
                </a:solidFill>
                <a:latin typeface="Helvetica Neue"/>
                <a:ea typeface="Helvetica Neue"/>
                <a:cs typeface="Helvetica Neue"/>
              </a:rPr>
              <a:t>Proposed users and next validation</a:t>
            </a:r>
          </a:p>
        </p:txBody>
      </p:sp>
      <p:sp>
        <p:nvSpPr>
          <p:cNvPr id="2" name="">
            <a:extLst xmlns:a="http://schemas.openxmlformats.org/drawingml/2006/main">
              <a:ext uri="{FF2B5EF4-FFF2-40B4-BE49-F238E27FC236}">
                <a16:creationId xmlns:a16="http://schemas.microsoft.com/office/drawing/2014/main" id="{C7672B6D-2791-41F8-A286-E873AD6A204B}"/>
              </a:ext>
            </a:extLst>
          </p:cNvPr>
          <p:cNvSpPr>
            <a:spLocks xmlns:a="http://schemas.openxmlformats.org/drawingml/2006/main" noGrp="1"/>
          </p:cNvSpPr>
          <p:nvPr/>
        </p:nvSpPr>
        <p:spPr>
          <a:xfrm xmlns:a="http://schemas.openxmlformats.org/drawingml/2006/main">
            <a:off x="685800" y="15716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127873"/>
                </a:solidFill>
                <a:latin typeface="Helvetica Neue"/>
                <a:ea typeface="Helvetica Neue"/>
                <a:cs typeface="Helvetica Neue"/>
              </a:defRPr>
            </a:pPr>
            <a:r>
              <a:rPr sz="2175" b="1">
                <a:solidFill>
                  <a:srgbClr val="127873"/>
                </a:solidFill>
                <a:latin typeface="Helvetica Neue"/>
                <a:ea typeface="Helvetica Neue"/>
                <a:cs typeface="Helvetica Neue"/>
              </a:rPr>
              <a:t>Proposed users</a:t>
            </a:r>
          </a:p>
        </p:txBody>
      </p:sp>
      <p:sp>
        <p:nvSpPr>
          <p:cNvPr id="3" name="">
            <a:extLst xmlns:a="http://schemas.openxmlformats.org/drawingml/2006/main">
              <a:ext uri="{FF2B5EF4-FFF2-40B4-BE49-F238E27FC236}">
                <a16:creationId xmlns:a16="http://schemas.microsoft.com/office/drawing/2014/main" id="{76D9883C-EAAB-4948-917B-77511D7F9B02}"/>
              </a:ext>
            </a:extLst>
          </p:cNvPr>
          <p:cNvSpPr>
            <a:spLocks xmlns:a="http://schemas.openxmlformats.org/drawingml/2006/main" noGrp="1"/>
          </p:cNvSpPr>
          <p:nvPr/>
        </p:nvSpPr>
        <p:spPr>
          <a:xfrm xmlns:a="http://schemas.openxmlformats.org/drawingml/2006/main">
            <a:off x="685800" y="2143125"/>
            <a:ext cx="50482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1C3939"/>
                </a:solidFill>
                <a:latin typeface="Helvetica Neue"/>
                <a:ea typeface="Helvetica Neue"/>
                <a:cs typeface="Helvetica Neue"/>
              </a:defRPr>
            </a:pPr>
            <a:r>
              <a:rPr sz="2400" b="1">
                <a:solidFill>
                  <a:srgbClr val="1C3939"/>
                </a:solidFill>
                <a:latin typeface="Helvetica Neue"/>
                <a:ea typeface="Helvetica Neue"/>
                <a:cs typeface="Helvetica Neue"/>
              </a:rPr>
              <a:t>Nurses who need caller context before joining a conversation.</a:t>
            </a:r>
          </a:p>
        </p:txBody>
      </p:sp>
      <p:sp>
        <p:nvSpPr>
          <p:cNvPr id="4" name="">
            <a:extLst xmlns:a="http://schemas.openxmlformats.org/drawingml/2006/main">
              <a:ext uri="{FF2B5EF4-FFF2-40B4-BE49-F238E27FC236}">
                <a16:creationId xmlns:a16="http://schemas.microsoft.com/office/drawing/2014/main" id="{411C7B69-F3F9-4565-AA5C-61D3E3FFB977}"/>
              </a:ext>
            </a:extLst>
          </p:cNvPr>
          <p:cNvSpPr>
            <a:spLocks xmlns:a="http://schemas.openxmlformats.org/drawingml/2006/main" noGrp="1"/>
          </p:cNvSpPr>
          <p:nvPr/>
        </p:nvSpPr>
        <p:spPr>
          <a:xfrm xmlns:a="http://schemas.openxmlformats.org/drawingml/2006/main">
            <a:off x="685800" y="397192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127873"/>
                </a:solidFill>
                <a:latin typeface="Helvetica Neue"/>
                <a:ea typeface="Helvetica Neue"/>
                <a:cs typeface="Helvetica Neue"/>
              </a:defRPr>
            </a:pPr>
            <a:r>
              <a:rPr sz="2175" b="1">
                <a:solidFill>
                  <a:srgbClr val="127873"/>
                </a:solidFill>
                <a:latin typeface="Helvetica Neue"/>
                <a:ea typeface="Helvetica Neue"/>
                <a:cs typeface="Helvetica Neue"/>
              </a:rPr>
              <a:t>Business hypothesis</a:t>
            </a:r>
          </a:p>
        </p:txBody>
      </p:sp>
      <p:sp>
        <p:nvSpPr>
          <p:cNvPr id="5" name="">
            <a:extLst xmlns:a="http://schemas.openxmlformats.org/drawingml/2006/main">
              <a:ext uri="{FF2B5EF4-FFF2-40B4-BE49-F238E27FC236}">
                <a16:creationId xmlns:a16="http://schemas.microsoft.com/office/drawing/2014/main" id="{979811E8-0CD5-4D2D-9988-BE6E762E9993}"/>
              </a:ext>
            </a:extLst>
          </p:cNvPr>
          <p:cNvSpPr>
            <a:spLocks xmlns:a="http://schemas.openxmlformats.org/drawingml/2006/main" noGrp="1"/>
          </p:cNvSpPr>
          <p:nvPr/>
        </p:nvSpPr>
        <p:spPr>
          <a:xfrm xmlns:a="http://schemas.openxmlformats.org/drawingml/2006/main">
            <a:off x="685800" y="4533900"/>
            <a:ext cx="5000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C3939"/>
                </a:solidFill>
                <a:latin typeface="Helvetica Neue"/>
                <a:ea typeface="Helvetica Neue"/>
                <a:cs typeface="Helvetica Neue"/>
              </a:defRPr>
            </a:pPr>
            <a:r>
              <a:rPr sz="2025" b="0">
                <a:solidFill>
                  <a:srgbClr val="1C3939"/>
                </a:solidFill>
                <a:latin typeface="Helvetica Neue"/>
                <a:ea typeface="Helvetica Neue"/>
                <a:cs typeface="Helvetica Neue"/>
              </a:rPr>
              <a:t>A paid workspace for nurse-line operators, if interviews and workflow trials establish value.</a:t>
            </a:r>
          </a:p>
        </p:txBody>
      </p:sp>
      <p:sp>
        <p:nvSpPr>
          <p:cNvPr id="6" name="">
            <a:extLst xmlns:a="http://schemas.openxmlformats.org/drawingml/2006/main">
              <a:ext uri="{FF2B5EF4-FFF2-40B4-BE49-F238E27FC236}">
                <a16:creationId xmlns:a16="http://schemas.microsoft.com/office/drawing/2014/main" id="{33ED1AC2-D7C1-4916-BB5E-AD2D6658CB30}"/>
              </a:ext>
            </a:extLst>
          </p:cNvPr>
          <p:cNvSpPr>
            <a:spLocks xmlns:a="http://schemas.openxmlformats.org/drawingml/2006/main" noGrp="1"/>
          </p:cNvSpPr>
          <p:nvPr/>
        </p:nvSpPr>
        <p:spPr>
          <a:xfrm xmlns:a="http://schemas.openxmlformats.org/drawingml/2006/main">
            <a:off x="6934200" y="157162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127873"/>
                </a:solidFill>
                <a:latin typeface="Helvetica Neue"/>
                <a:ea typeface="Helvetica Neue"/>
                <a:cs typeface="Helvetica Neue"/>
              </a:defRPr>
            </a:pPr>
            <a:r>
              <a:rPr sz="2175" b="1">
                <a:solidFill>
                  <a:srgbClr val="127873"/>
                </a:solidFill>
                <a:latin typeface="Helvetica Neue"/>
                <a:ea typeface="Helvetica Neue"/>
                <a:cs typeface="Helvetica Neue"/>
              </a:rPr>
              <a:t>Next validation</a:t>
            </a:r>
          </a:p>
        </p:txBody>
      </p:sp>
      <p:sp>
        <p:nvSpPr>
          <p:cNvPr id="7" name="">
            <a:extLst xmlns:a="http://schemas.openxmlformats.org/drawingml/2006/main">
              <a:ext uri="{FF2B5EF4-FFF2-40B4-BE49-F238E27FC236}">
                <a16:creationId xmlns:a16="http://schemas.microsoft.com/office/drawing/2014/main" id="{F3BE83C0-8C13-478B-AE1B-823B3F9A0E86}"/>
              </a:ext>
            </a:extLst>
          </p:cNvPr>
          <p:cNvSpPr>
            <a:spLocks xmlns:a="http://schemas.openxmlformats.org/drawingml/2006/main" noGrp="1"/>
          </p:cNvSpPr>
          <p:nvPr/>
        </p:nvSpPr>
        <p:spPr>
          <a:xfrm xmlns:a="http://schemas.openxmlformats.org/drawingml/2006/main">
            <a:off x="6934200" y="2200275"/>
            <a:ext cx="4514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C3939"/>
                </a:solidFill>
                <a:latin typeface="Helvetica Neue"/>
                <a:ea typeface="Helvetica Neue"/>
                <a:cs typeface="Helvetica Neue"/>
              </a:defRPr>
            </a:pPr>
            <a:r>
              <a:rPr sz="2025" b="0">
                <a:solidFill>
                  <a:srgbClr val="1C3939"/>
                </a:solidFill>
                <a:latin typeface="Helvetica Neue"/>
                <a:ea typeface="Helvetica Neue"/>
                <a:cs typeface="Helvetica Neue"/>
              </a:rPr>
              <a:t>Nurse interviews and fictional case reviews</a:t>
            </a:r>
          </a:p>
        </p:txBody>
      </p:sp>
      <p:sp>
        <p:nvSpPr>
          <p:cNvPr id="8" name="">
            <a:extLst xmlns:a="http://schemas.openxmlformats.org/drawingml/2006/main">
              <a:ext uri="{FF2B5EF4-FFF2-40B4-BE49-F238E27FC236}">
                <a16:creationId xmlns:a16="http://schemas.microsoft.com/office/drawing/2014/main" id="{0DFD6CF7-0DDB-4E60-8214-4FA111DA4BAE}"/>
              </a:ext>
            </a:extLst>
          </p:cNvPr>
          <p:cNvSpPr>
            <a:spLocks xmlns:a="http://schemas.openxmlformats.org/drawingml/2006/main" noGrp="1"/>
          </p:cNvSpPr>
          <p:nvPr/>
        </p:nvSpPr>
        <p:spPr>
          <a:xfrm xmlns:a="http://schemas.openxmlformats.org/drawingml/2006/main">
            <a:off x="6934200" y="3190875"/>
            <a:ext cx="4514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C3939"/>
                </a:solidFill>
                <a:latin typeface="Helvetica Neue"/>
                <a:ea typeface="Helvetica Neue"/>
                <a:cs typeface="Helvetica Neue"/>
              </a:defRPr>
            </a:pPr>
            <a:r>
              <a:rPr sz="2025" b="0">
                <a:solidFill>
                  <a:srgbClr val="1C3939"/>
                </a:solidFill>
                <a:latin typeface="Helvetica Neue"/>
                <a:ea typeface="Helvetica Neue"/>
                <a:cs typeface="Helvetica Neue"/>
              </a:rPr>
              <a:t>Two physical devices and audible handoff</a:t>
            </a:r>
          </a:p>
        </p:txBody>
      </p:sp>
      <p:sp>
        <p:nvSpPr>
          <p:cNvPr id="9" name="">
            <a:extLst xmlns:a="http://schemas.openxmlformats.org/drawingml/2006/main">
              <a:ext uri="{FF2B5EF4-FFF2-40B4-BE49-F238E27FC236}">
                <a16:creationId xmlns:a16="http://schemas.microsoft.com/office/drawing/2014/main" id="{6F5E627E-743E-41C9-A1E9-FD4F13DECD42}"/>
              </a:ext>
            </a:extLst>
          </p:cNvPr>
          <p:cNvSpPr>
            <a:spLocks xmlns:a="http://schemas.openxmlformats.org/drawingml/2006/main" noGrp="1"/>
          </p:cNvSpPr>
          <p:nvPr/>
        </p:nvSpPr>
        <p:spPr>
          <a:xfrm xmlns:a="http://schemas.openxmlformats.org/drawingml/2006/main">
            <a:off x="6934200" y="4181475"/>
            <a:ext cx="4514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C3939"/>
                </a:solidFill>
                <a:latin typeface="Helvetica Neue"/>
                <a:ea typeface="Helvetica Neue"/>
                <a:cs typeface="Helvetica Neue"/>
              </a:defRPr>
            </a:pPr>
            <a:r>
              <a:rPr sz="2025" b="0">
                <a:solidFill>
                  <a:srgbClr val="1C3939"/>
                </a:solidFill>
                <a:latin typeface="Helvetica Neue"/>
                <a:ea typeface="Helvetica Neue"/>
                <a:cs typeface="Helvetica Neue"/>
              </a:rPr>
              <a:t>Provider recording controls and hosted acceptance</a:t>
            </a:r>
          </a:p>
        </p:txBody>
      </p:sp>
      <p:sp>
        <p:nvSpPr>
          <p:cNvPr id="10" name="">
            <a:extLst xmlns:a="http://schemas.openxmlformats.org/drawingml/2006/main">
              <a:ext uri="{FF2B5EF4-FFF2-40B4-BE49-F238E27FC236}">
                <a16:creationId xmlns:a16="http://schemas.microsoft.com/office/drawing/2014/main" id="{AD0E6681-566C-4352-B174-6B7DA8959EE5}"/>
              </a:ext>
            </a:extLst>
          </p:cNvPr>
          <p:cNvSpPr>
            <a:spLocks xmlns:a="http://schemas.openxmlformats.org/drawingml/2006/main" noGrp="1"/>
          </p:cNvSpPr>
          <p:nvPr/>
        </p:nvSpPr>
        <p:spPr>
          <a:xfrm xmlns:a="http://schemas.openxmlformats.org/drawingml/2006/main">
            <a:off x="6934200" y="5172075"/>
            <a:ext cx="45148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C3939"/>
                </a:solidFill>
                <a:latin typeface="Helvetica Neue"/>
                <a:ea typeface="Helvetica Neue"/>
                <a:cs typeface="Helvetica Neue"/>
              </a:defRPr>
            </a:pPr>
            <a:r>
              <a:rPr sz="2025" b="0">
                <a:solidFill>
                  <a:srgbClr val="1C3939"/>
                </a:solidFill>
                <a:latin typeface="Helvetica Neue"/>
                <a:ea typeface="Helvetica Neue"/>
                <a:cs typeface="Helvetica Neue"/>
              </a:rPr>
              <a:t>Live telephone call for the optional phone path</a:t>
            </a:r>
          </a:p>
        </p:txBody>
      </p:sp>
      <p:sp>
        <p:nvSpPr>
          <p:cNvPr id="11" name="">
            <a:extLst xmlns:a="http://schemas.openxmlformats.org/drawingml/2006/main">
              <a:ext uri="{FF2B5EF4-FFF2-40B4-BE49-F238E27FC236}">
                <a16:creationId xmlns:a16="http://schemas.microsoft.com/office/drawing/2014/main" id="{8D57C148-916D-4C78-B357-A15DF95C5054}"/>
              </a:ext>
            </a:extLst>
          </p:cNvPr>
          <p:cNvSpPr>
            <a:spLocks xmlns:a="http://schemas.openxmlformats.org/drawingml/2006/main" noGrp="1"/>
          </p:cNvSpPr>
          <p:nvPr/>
        </p:nvSpPr>
        <p:spPr>
          <a:xfrm xmlns:a="http://schemas.openxmlformats.org/drawingml/2006/main">
            <a:off x="1104900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526967"/>
                </a:solidFill>
                <a:latin typeface="Helvetica Neue"/>
                <a:ea typeface="Helvetica Neue"/>
                <a:cs typeface="Helvetica Neue"/>
              </a:defRPr>
            </a:pPr>
            <a:r>
              <a:rPr sz="1350" b="0">
                <a:solidFill>
                  <a:srgbClr val="526967"/>
                </a:solidFill>
                <a:latin typeface="Helvetica Neue"/>
                <a:ea typeface="Helvetica Neue"/>
                <a:cs typeface="Helvetica Neue"/>
              </a:rPr>
              <a:t>07</a:t>
            </a:r>
          </a:p>
        </p:txBody>
      </p:sp>
    </p:spTree>
    <p:extLst>
      <p:ext uri="{BB962C8B-B14F-4D97-AF65-F5344CB8AC3E}">
        <p14:creationId xmlns:p14="http://schemas.microsoft.com/office/powerpoint/2010/main" val="13010901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2026-09-29T09:59:37.9950000Z</dcterms:created>
  <dcterms:modified xsi:type="dcterms:W3CDTF">2026-09-29T09:59:37.9950000Z</dcterms:modified>
</coreProperties>
</file>